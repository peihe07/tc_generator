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76" y="274320"/>
            <a:ext cx="877824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E"/>
                </a:solidFill>
              </a:rPr>
              <a:t>© 2026 MobileDrive Technology Co., Ltd.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生成測試用例：實際專案的人工修改比例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2E4"/>
                </a:solidFill>
              </a:rPr>
              <a:t>每經一次審查與修改，AI 測項越來越符合審查標準，所需人工修改比例隨之下降。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51790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初版被 Reviewer 修改的程度（越低＝AI 越可直接採用）</a:t>
            </a:r>
            <a:endParaRPr lang="en-US" sz="1300" dirty="0"/>
          </a:p>
        </p:txBody>
      </p:sp>
      <p:pic>
        <p:nvPicPr>
          <p:cNvPr id="7" name="Image 1" descr="/tmp/chart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47088"/>
            <a:ext cx="690372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5852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D2E4"/>
                </a:solidFill>
              </a:rPr>
              <a:t>共 5 組（Feature 1／3／4，Feature 5 分兩輪：初版、定稿）。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635240" y="1517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CFF"/>
                </a:solidFill>
              </a:rPr>
              <a:t>重點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35240" y="192024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早期 Feature：Reviewer 需改寫約 3 至 7 成的測試案例。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每經一次審查與修改，測項越來越符合審查標準，所需修改隨之減少。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AI 初版已可作為 SWE.6 審查的基礎稿，以及下一關卡（SWE.1／SWE.2）的輸入依據。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目前流程仍保留一關人工審查，並非零接觸。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635240" y="452628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4D2E4"/>
                </a:solidFill>
              </a:rPr>
              <a:t>資料範圍與例外</a:t>
            </a:r>
            <a:endParaRPr lang="en-US" sz="100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EC0D6"/>
                </a:solidFill>
              </a:rPr>
              <a:t>Feature 5：①初版→首次審查僅 7%；②最終定稿由 Reviewer 另行重寫（75%）。</a:t>
            </a:r>
            <a:endParaRPr lang="en-US" sz="100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EC0D6"/>
                </a:solidFill>
              </a:rPr>
              <a:t>Feature 2：EngMode 資料夾無測試檔，無法比對，故未列入。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EC0D6"/>
                </a:solidFill>
              </a:rPr>
              <a:t>Feature 6：僅受審子集（26 筆）、以微幅調整為主，另述，未列入本圖。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61996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E"/>
                </a:solidFill>
              </a:rPr>
              <a:t>方法：擷取測試項目／前置條件／輸入／測試程序／預期結果，按需求 ID 分組做字元級相似度比對；「實質改寫率」＝相似度 &lt; 0.85 之案例比例。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76" y="274320"/>
            <a:ext cx="877824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E"/>
                </a:solidFill>
              </a:rPr>
              <a:t>© 2026 MobileDrive Technology Co., Ltd.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329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未來規劃：以 Knowledge Base 為核心的流程演進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96112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1C5A9E"/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2E4"/>
                </a:solidFill>
              </a:rPr>
              <a:t>現行主線 Pipeline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6080" y="896112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 w="15875">
            <a:solidFill>
              <a:srgbClr val="35D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55264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2E4"/>
                </a:solidFill>
              </a:rPr>
              <a:t>實作中 Enhanced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896112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163A5C"/>
          </a:solidFill>
          <a:ln w="15875">
            <a:solidFill>
              <a:srgbClr val="E8993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724144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2E4"/>
                </a:solidFill>
              </a:rPr>
              <a:t>規劃中 Planned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" y="1417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D0E0"/>
                </a:solidFill>
              </a:rPr>
              <a:t>實作中 Enhanced（依現行專案）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88536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8536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規格語意比對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25212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63640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封閉迴路生成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100316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238744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38744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互動式審查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75420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0213848" y="1737360"/>
            <a:ext cx="1673352" cy="603504"/>
          </a:xfrm>
          <a:prstGeom prst="roundRect">
            <a:avLst>
              <a:gd name="adj" fmla="val 10606"/>
            </a:avLst>
          </a:prstGeom>
          <a:solidFill>
            <a:srgbClr val="0E7C86"/>
          </a:solidFill>
          <a:ln w="19050">
            <a:solidFill>
              <a:srgbClr val="35D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13848" y="1737360"/>
            <a:ext cx="16733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規格涵蓋率 KPI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1050524" y="2340864"/>
            <a:ext cx="0" cy="630936"/>
          </a:xfrm>
          <a:prstGeom prst="line">
            <a:avLst/>
          </a:prstGeom>
          <a:noFill/>
          <a:ln w="25400">
            <a:solidFill>
              <a:srgbClr val="35D0E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38328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338328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B562"/>
                </a:solidFill>
              </a:rPr>
              <a:t>Knowledge Base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D2E4"/>
                </a:solidFill>
              </a:rPr>
              <a:t>知識源（規劃中）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011680" y="3392424"/>
            <a:ext cx="301752" cy="0"/>
          </a:xfrm>
          <a:prstGeom prst="line">
            <a:avLst/>
          </a:prstGeom>
          <a:noFill/>
          <a:ln w="25400">
            <a:solidFill>
              <a:srgbClr val="E8993A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313432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13432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需求／Spec 解析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986784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288536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88536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領域接地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D2E4"/>
                </a:solidFill>
              </a:rPr>
              <a:t>Domain Pack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961888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263640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3640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測項生成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936992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38744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38744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SWE.6 審查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912096" y="3392424"/>
            <a:ext cx="301752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0213848" y="2971800"/>
            <a:ext cx="1673352" cy="841248"/>
          </a:xfrm>
          <a:prstGeom prst="roundRect">
            <a:avLst>
              <a:gd name="adj" fmla="val 7609"/>
            </a:avLst>
          </a:prstGeom>
          <a:solidFill>
            <a:srgbClr val="1C5A9E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213848" y="2971800"/>
            <a:ext cx="16733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KPI 計分・匯出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9075420" y="3813048"/>
            <a:ext cx="0" cy="594360"/>
          </a:xfrm>
          <a:prstGeom prst="line">
            <a:avLst/>
          </a:prstGeom>
          <a:noFill/>
          <a:ln w="28575">
            <a:solidFill>
              <a:srgbClr val="E8993A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1175004" y="4407408"/>
            <a:ext cx="7900416" cy="0"/>
          </a:xfrm>
          <a:prstGeom prst="line">
            <a:avLst/>
          </a:prstGeom>
          <a:noFill/>
          <a:ln w="28575">
            <a:solidFill>
              <a:srgbClr val="E8993A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1175004" y="4407408"/>
            <a:ext cx="0" cy="-594360"/>
          </a:xfrm>
          <a:prstGeom prst="line">
            <a:avLst/>
          </a:prstGeom>
          <a:noFill/>
          <a:ln w="28575">
            <a:solidFill>
              <a:srgbClr val="E8993A"/>
            </a:solidFill>
            <a:prstDash val="dash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1449324" y="4096512"/>
            <a:ext cx="7351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B562"/>
                </a:solidFill>
              </a:rPr>
              <a:t>規劃中 · 審查機制完善後，將審查標準與發現回饋 Knowledge Base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E0"/>
                </a:solidFill>
              </a:rPr>
              <a:t>Knowledge Base 組成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57200" y="5102352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457200" y="5102352"/>
            <a:ext cx="10515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562"/>
                </a:solidFill>
              </a:rPr>
              <a:t>SPEC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508760" y="5303520"/>
            <a:ext cx="274320" cy="0"/>
          </a:xfrm>
          <a:prstGeom prst="line">
            <a:avLst/>
          </a:prstGeom>
          <a:noFill/>
          <a:ln w="25400">
            <a:solidFill>
              <a:srgbClr val="E8993A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1783080" y="5102352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1783080" y="5102352"/>
            <a:ext cx="10515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562"/>
                </a:solidFill>
              </a:rPr>
              <a:t>SYS2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834640" y="5303520"/>
            <a:ext cx="274320" cy="0"/>
          </a:xfrm>
          <a:prstGeom prst="line">
            <a:avLst/>
          </a:prstGeom>
          <a:noFill/>
          <a:ln w="25400">
            <a:solidFill>
              <a:srgbClr val="E8993A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3108960" y="5102352"/>
            <a:ext cx="1554480" cy="402336"/>
          </a:xfrm>
          <a:prstGeom prst="roundRect">
            <a:avLst>
              <a:gd name="adj" fmla="val 15909"/>
            </a:avLst>
          </a:prstGeom>
          <a:solidFill>
            <a:srgbClr val="163A5C"/>
          </a:solidFill>
          <a:ln w="19050">
            <a:solidFill>
              <a:srgbClr val="E8993A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3108960" y="5102352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562"/>
                </a:solidFill>
              </a:rPr>
              <a:t>SYS3 分析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57200" y="562356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2E4"/>
                </a:solidFill>
              </a:rPr>
              <a:t>由 SPEC → SYS2 → SYS3 的分析串接：先建立主要規格與分析框架，補足 SPEC 與 SWE1 之間缺少的關聯，讓原始 SPEC 能更好地與 SWE1 銜接。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355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562"/>
                </a:solidFill>
              </a:rPr>
              <a:t>審查回饋 · 正向循環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355080" y="5102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4D2E4"/>
                </a:solidFill>
              </a:rPr>
              <a:t>當 Review 機制建立得更完整，會把累積的審查標準與發現連接進 Knowledge Base；知識庫再回頭強化測項生成與審查，形成正向循環，讓測項越來越符合審查標準、整體機制持續變好。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2026-07-18T09:18:56Z</dcterms:created>
  <dcterms:modified xsi:type="dcterms:W3CDTF">2026-07-18T09:18:56Z</dcterms:modified>
</cp:coreProperties>
</file>