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8" r:id="rId2"/>
    <p:sldId id="256" r:id="rId3"/>
    <p:sldId id="257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210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208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4978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256032"/>
            <a:ext cx="810228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18288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Arial"/>
                <a:ea typeface="微軟正黑體"/>
                <a:cs typeface="微軟正黑體"/>
              </a:rPr>
              <a:t>TC Generator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6384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C4D0DE"/>
                </a:solidFill>
                <a:latin typeface="Arial"/>
                <a:ea typeface="微軟正黑體"/>
                <a:cs typeface="微軟正黑體"/>
              </a:rPr>
              <a:t>AI 輔助產生與驗證 ASPICE SWE.6 測試用例，全程保留人工審查控制。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237744"/>
            <a:ext cx="3246120" cy="402336"/>
          </a:xfrm>
          <a:prstGeom prst="roundRect">
            <a:avLst>
              <a:gd name="adj" fmla="val 30000"/>
            </a:avLst>
          </a:prstGeom>
          <a:solidFill>
            <a:srgbClr val="0A2E52"/>
          </a:solidFill>
          <a:ln w="12700">
            <a:solidFill>
              <a:srgbClr val="1C91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839712" y="365760"/>
            <a:ext cx="146304" cy="146304"/>
          </a:xfrm>
          <a:prstGeom prst="ellipse">
            <a:avLst/>
          </a:prstGeom>
          <a:noFill/>
          <a:ln w="25400">
            <a:solidFill>
              <a:srgbClr val="4DD0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885432" y="411480"/>
            <a:ext cx="54864" cy="54864"/>
          </a:xfrm>
          <a:prstGeom prst="ellipse">
            <a:avLst/>
          </a:prstGeom>
          <a:solidFill>
            <a:srgbClr val="4D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86600" y="274320"/>
            <a:ext cx="27432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Arial"/>
                <a:ea typeface="微軟正黑體"/>
                <a:cs typeface="微軟正黑體"/>
              </a:rPr>
              <a:t>狀態  已驗證功能雛型 (PoC)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18872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DD0C1"/>
                </a:solidFill>
                <a:latin typeface="Arial"/>
                <a:ea typeface="微軟正黑體"/>
                <a:cs typeface="微軟正黑體"/>
              </a:rPr>
              <a:t>流程 PIPELINE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200" y="1298448"/>
            <a:ext cx="2834640" cy="18288"/>
          </a:xfrm>
          <a:prstGeom prst="rect">
            <a:avLst/>
          </a:prstGeom>
          <a:solidFill>
            <a:srgbClr val="4D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84048" y="1481328"/>
            <a:ext cx="2057400" cy="804672"/>
          </a:xfrm>
          <a:prstGeom prst="roundRect">
            <a:avLst>
              <a:gd name="adj" fmla="val 12000"/>
            </a:avLst>
          </a:prstGeom>
          <a:solidFill>
            <a:srgbClr val="0A2E52"/>
          </a:solidFill>
          <a:ln w="12700">
            <a:solidFill>
              <a:srgbClr val="1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rial"/>
                <a:ea typeface="微軟正黑體"/>
                <a:cs typeface="微軟正黑體"/>
              </a:rPr>
              <a:t>上傳 / SWE.1 分析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DB5"/>
                </a:solidFill>
                <a:latin typeface="Arial"/>
                <a:ea typeface="微軟正黑體"/>
                <a:cs typeface="微軟正黑體"/>
              </a:rPr>
              <a:t>（＋SPEC、REF）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478024" y="1810512"/>
            <a:ext cx="164592" cy="146304"/>
          </a:xfrm>
          <a:prstGeom prst="rightArrow">
            <a:avLst/>
          </a:prstGeom>
          <a:solidFill>
            <a:srgbClr val="4D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697479" y="1481328"/>
            <a:ext cx="2057400" cy="804672"/>
          </a:xfrm>
          <a:prstGeom prst="roundRect">
            <a:avLst>
              <a:gd name="adj" fmla="val 12000"/>
            </a:avLst>
          </a:prstGeom>
          <a:solidFill>
            <a:srgbClr val="1C919C"/>
          </a:solidFill>
          <a:ln w="22225">
            <a:solidFill>
              <a:srgbClr val="4DD0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微軟正黑體"/>
                <a:cs typeface="微軟正黑體"/>
              </a:rPr>
              <a:t>AI 生成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C4D0DE"/>
                </a:solidFill>
                <a:latin typeface="Arial"/>
                <a:ea typeface="微軟正黑體"/>
                <a:cs typeface="微軟正黑體"/>
              </a:rPr>
              <a:t>LLM 核心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791455" y="1810512"/>
            <a:ext cx="164592" cy="146304"/>
          </a:xfrm>
          <a:prstGeom prst="rightArrow">
            <a:avLst/>
          </a:prstGeom>
          <a:solidFill>
            <a:srgbClr val="4D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010912" y="1481328"/>
            <a:ext cx="2057400" cy="804672"/>
          </a:xfrm>
          <a:prstGeom prst="roundRect">
            <a:avLst>
              <a:gd name="adj" fmla="val 12000"/>
            </a:avLst>
          </a:prstGeom>
          <a:solidFill>
            <a:srgbClr val="0A2E52"/>
          </a:solidFill>
          <a:ln w="12700">
            <a:solidFill>
              <a:srgbClr val="1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rial"/>
                <a:ea typeface="微軟正黑體"/>
                <a:cs typeface="微軟正黑體"/>
              </a:rPr>
              <a:t>SWE.6 驗證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DB5"/>
                </a:solidFill>
                <a:latin typeface="Arial"/>
                <a:ea typeface="微軟正黑體"/>
                <a:cs typeface="微軟正黑體"/>
              </a:rPr>
              <a:t>規則＋AI 稽核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104888" y="1810512"/>
            <a:ext cx="164592" cy="146304"/>
          </a:xfrm>
          <a:prstGeom prst="rightArrow">
            <a:avLst/>
          </a:prstGeom>
          <a:solidFill>
            <a:srgbClr val="4D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324344" y="1481328"/>
            <a:ext cx="2057400" cy="804672"/>
          </a:xfrm>
          <a:prstGeom prst="roundRect">
            <a:avLst>
              <a:gd name="adj" fmla="val 12000"/>
            </a:avLst>
          </a:prstGeom>
          <a:solidFill>
            <a:srgbClr val="0A2E52"/>
          </a:solidFill>
          <a:ln w="12700">
            <a:solidFill>
              <a:srgbClr val="1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rial"/>
                <a:ea typeface="微軟正黑體"/>
                <a:cs typeface="微軟正黑體"/>
              </a:rPr>
              <a:t>人工審查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DB5"/>
                </a:solidFill>
                <a:latin typeface="Arial"/>
                <a:ea typeface="微軟正黑體"/>
                <a:cs typeface="微軟正黑體"/>
              </a:rPr>
              <a:t>App 內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418319" y="1810512"/>
            <a:ext cx="164592" cy="146304"/>
          </a:xfrm>
          <a:prstGeom prst="rightArrow">
            <a:avLst/>
          </a:prstGeom>
          <a:solidFill>
            <a:srgbClr val="4D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637776" y="1481328"/>
            <a:ext cx="2057400" cy="804672"/>
          </a:xfrm>
          <a:prstGeom prst="roundRect">
            <a:avLst>
              <a:gd name="adj" fmla="val 12000"/>
            </a:avLst>
          </a:prstGeom>
          <a:solidFill>
            <a:srgbClr val="0A2E52"/>
          </a:solidFill>
          <a:ln w="12700">
            <a:solidFill>
              <a:srgbClr val="1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rial"/>
                <a:ea typeface="微軟正黑體"/>
                <a:cs typeface="微軟正黑體"/>
              </a:rPr>
              <a:t>匯出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DB5"/>
                </a:solidFill>
                <a:latin typeface="Arial"/>
                <a:ea typeface="微軟正黑體"/>
                <a:cs typeface="微軟正黑體"/>
              </a:rPr>
              <a:t>Excel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2359152"/>
            <a:ext cx="6309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4DD0C1"/>
                </a:solidFill>
                <a:latin typeface="Arial"/>
                <a:ea typeface="微軟正黑體"/>
                <a:cs typeface="微軟正黑體"/>
              </a:rPr>
              <a:t>↑ 僅生成階段使用 AI；驗證與匯出維持規則化、可重現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2670048"/>
            <a:ext cx="5669280" cy="960120"/>
          </a:xfrm>
          <a:prstGeom prst="roundRect">
            <a:avLst>
              <a:gd name="adj" fmla="val 5000"/>
            </a:avLst>
          </a:prstGeom>
          <a:solidFill>
            <a:srgbClr val="0A2E52"/>
          </a:solidFill>
          <a:ln w="12700">
            <a:solidFill>
              <a:srgbClr val="1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2670048"/>
            <a:ext cx="82296" cy="960120"/>
          </a:xfrm>
          <a:prstGeom prst="rect">
            <a:avLst/>
          </a:prstGeom>
          <a:solidFill>
            <a:srgbClr val="4D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2761488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5C34D"/>
                </a:solidFill>
                <a:latin typeface="Arial"/>
                <a:ea typeface="微軟正黑體"/>
                <a:cs typeface="微軟正黑體"/>
              </a:rPr>
              <a:t>01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88720" y="2816352"/>
            <a:ext cx="18288" cy="274320"/>
          </a:xfrm>
          <a:prstGeom prst="rect">
            <a:avLst/>
          </a:prstGeom>
          <a:solidFill>
            <a:srgbClr val="8A9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298448" y="2843784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Arial"/>
                <a:ea typeface="微軟正黑體"/>
                <a:cs typeface="微軟正黑體"/>
              </a:rPr>
              <a:t>為什麼 WHY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182112"/>
            <a:ext cx="5166360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4D0DE"/>
                </a:solidFill>
                <a:latin typeface="Arial"/>
                <a:ea typeface="微軟正黑體"/>
                <a:cs typeface="微軟正黑體"/>
              </a:rPr>
              <a:t>手動撰寫 SWE.6 測試用例耗時、重複，且不同審查者之間難以標準化。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3749039"/>
            <a:ext cx="5669280" cy="1444752"/>
          </a:xfrm>
          <a:prstGeom prst="roundRect">
            <a:avLst>
              <a:gd name="adj" fmla="val 5000"/>
            </a:avLst>
          </a:prstGeom>
          <a:solidFill>
            <a:srgbClr val="0A2E52"/>
          </a:solidFill>
          <a:ln w="12700">
            <a:solidFill>
              <a:srgbClr val="1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65760" y="3749039"/>
            <a:ext cx="82296" cy="1444752"/>
          </a:xfrm>
          <a:prstGeom prst="rect">
            <a:avLst/>
          </a:prstGeom>
          <a:solidFill>
            <a:srgbClr val="4D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3840479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5C34D"/>
                </a:solidFill>
                <a:latin typeface="Arial"/>
                <a:ea typeface="微軟正黑體"/>
                <a:cs typeface="微軟正黑體"/>
              </a:rPr>
              <a:t>02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88720" y="3895344"/>
            <a:ext cx="18288" cy="274320"/>
          </a:xfrm>
          <a:prstGeom prst="rect">
            <a:avLst/>
          </a:prstGeom>
          <a:solidFill>
            <a:srgbClr val="8A9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298448" y="392277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Arial"/>
                <a:ea typeface="微軟正黑體"/>
                <a:cs typeface="微軟正黑體"/>
              </a:rPr>
              <a:t>團隊效益 TEAM IMPACT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4261104"/>
            <a:ext cx="5166360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C4D0DE"/>
                </a:solidFill>
                <a:latin typeface="Arial"/>
                <a:ea typeface="微軟正黑體"/>
                <a:cs typeface="微軟正黑體"/>
              </a:rPr>
              <a:t>• 降低重複撰寫測項的人力成本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C4D0DE"/>
                </a:solidFill>
                <a:latin typeface="Arial"/>
                <a:ea typeface="微軟正黑體"/>
                <a:cs typeface="微軟正黑體"/>
              </a:rPr>
              <a:t>• 人工核可保留在流程之中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C4D0DE"/>
                </a:solidFill>
                <a:latin typeface="Arial"/>
                <a:ea typeface="微軟正黑體"/>
                <a:cs typeface="微軟正黑體"/>
              </a:rPr>
              <a:t>• 縮小不同審查者之間的落差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4D0DE"/>
                </a:solidFill>
                <a:latin typeface="Arial"/>
                <a:ea typeface="微軟正黑體"/>
                <a:cs typeface="微軟正黑體"/>
              </a:rPr>
              <a:t>• 加速對需求變更的回應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5321808"/>
            <a:ext cx="5669280" cy="1024128"/>
          </a:xfrm>
          <a:prstGeom prst="roundRect">
            <a:avLst>
              <a:gd name="adj" fmla="val 5000"/>
            </a:avLst>
          </a:prstGeom>
          <a:solidFill>
            <a:srgbClr val="0A2E52"/>
          </a:solidFill>
          <a:ln w="12700">
            <a:solidFill>
              <a:srgbClr val="1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65760" y="5321808"/>
            <a:ext cx="82296" cy="1024128"/>
          </a:xfrm>
          <a:prstGeom prst="rect">
            <a:avLst/>
          </a:prstGeom>
          <a:solidFill>
            <a:srgbClr val="4D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" y="5413248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5C34D"/>
                </a:solidFill>
                <a:latin typeface="Arial"/>
                <a:ea typeface="微軟正黑體"/>
                <a:cs typeface="微軟正黑體"/>
              </a:rPr>
              <a:t>03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88720" y="5468112"/>
            <a:ext cx="18288" cy="274320"/>
          </a:xfrm>
          <a:prstGeom prst="rect">
            <a:avLst/>
          </a:prstGeom>
          <a:solidFill>
            <a:srgbClr val="8A9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298448" y="5495544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Arial"/>
                <a:ea typeface="微軟正黑體"/>
                <a:cs typeface="微軟正黑體"/>
              </a:rPr>
              <a:t>下一步 NEXT STEPS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5833872"/>
            <a:ext cx="5166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C4D0DE"/>
                </a:solidFill>
                <a:latin typeface="Arial"/>
                <a:ea typeface="微軟正黑體"/>
                <a:cs typeface="微軟正黑體"/>
              </a:rPr>
              <a:t>• 以已審查的工程測項驗證 AI 生成結果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4D0DE"/>
                </a:solidFill>
                <a:latin typeface="Arial"/>
                <a:ea typeface="微軟正黑體"/>
                <a:cs typeface="微軟正黑體"/>
              </a:rPr>
              <a:t>• 評估部署成本與內部模型選項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54496" y="2615184"/>
            <a:ext cx="5577840" cy="3419856"/>
          </a:xfrm>
          <a:prstGeom prst="rect">
            <a:avLst/>
          </a:prstGeom>
          <a:solidFill>
            <a:srgbClr val="0A2E52"/>
          </a:solidFill>
          <a:ln w="15875">
            <a:solidFill>
              <a:srgbClr val="1C91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image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2688336"/>
            <a:ext cx="5431536" cy="3273552"/>
          </a:xfrm>
          <a:prstGeom prst="rect">
            <a:avLst/>
          </a:prstGeom>
        </p:spPr>
      </p:pic>
      <p:sp>
        <p:nvSpPr>
          <p:cNvPr id="42" name="Oval 41"/>
          <p:cNvSpPr/>
          <p:nvPr/>
        </p:nvSpPr>
        <p:spPr>
          <a:xfrm>
            <a:off x="6309360" y="6089904"/>
            <a:ext cx="256032" cy="256032"/>
          </a:xfrm>
          <a:prstGeom prst="ellipse">
            <a:avLst/>
          </a:prstGeom>
          <a:solidFill>
            <a:srgbClr val="F5C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A2E52"/>
                </a:solidFill>
                <a:latin typeface="Arial"/>
                <a:ea typeface="微軟正黑體"/>
                <a:cs typeface="微軟正黑體"/>
              </a:rPr>
              <a:t>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20256" y="6108192"/>
            <a:ext cx="10515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C4D0DE"/>
                </a:solidFill>
                <a:latin typeface="Arial"/>
                <a:ea typeface="微軟正黑體"/>
                <a:cs typeface="微軟正黑體"/>
              </a:rPr>
              <a:t>AI 推理</a:t>
            </a:r>
          </a:p>
        </p:txBody>
      </p:sp>
      <p:sp>
        <p:nvSpPr>
          <p:cNvPr id="44" name="Oval 43"/>
          <p:cNvSpPr/>
          <p:nvPr/>
        </p:nvSpPr>
        <p:spPr>
          <a:xfrm>
            <a:off x="7699248" y="6089904"/>
            <a:ext cx="256032" cy="256032"/>
          </a:xfrm>
          <a:prstGeom prst="ellipse">
            <a:avLst/>
          </a:prstGeom>
          <a:solidFill>
            <a:srgbClr val="F5C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A2E52"/>
                </a:solidFill>
                <a:latin typeface="Arial"/>
                <a:ea typeface="微軟正黑體"/>
                <a:cs typeface="微軟正黑體"/>
              </a:rPr>
              <a:t>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10144" y="6108192"/>
            <a:ext cx="10515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C4D0DE"/>
                </a:solidFill>
                <a:latin typeface="Arial"/>
                <a:ea typeface="微軟正黑體"/>
                <a:cs typeface="微軟正黑體"/>
              </a:rPr>
              <a:t>生成測項</a:t>
            </a:r>
          </a:p>
        </p:txBody>
      </p:sp>
      <p:sp>
        <p:nvSpPr>
          <p:cNvPr id="46" name="Oval 45"/>
          <p:cNvSpPr/>
          <p:nvPr/>
        </p:nvSpPr>
        <p:spPr>
          <a:xfrm>
            <a:off x="9089136" y="6089904"/>
            <a:ext cx="256032" cy="256032"/>
          </a:xfrm>
          <a:prstGeom prst="ellipse">
            <a:avLst/>
          </a:prstGeom>
          <a:solidFill>
            <a:srgbClr val="F5C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A2E52"/>
                </a:solidFill>
                <a:latin typeface="Arial"/>
                <a:ea typeface="微軟正黑體"/>
                <a:cs typeface="微軟正黑體"/>
              </a:rPr>
              <a:t>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00032" y="6108192"/>
            <a:ext cx="10515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C4D0DE"/>
                </a:solidFill>
                <a:latin typeface="Arial"/>
                <a:ea typeface="微軟正黑體"/>
                <a:cs typeface="微軟正黑體"/>
              </a:rPr>
              <a:t>多狀態列</a:t>
            </a:r>
          </a:p>
        </p:txBody>
      </p:sp>
      <p:sp>
        <p:nvSpPr>
          <p:cNvPr id="48" name="Oval 47"/>
          <p:cNvSpPr/>
          <p:nvPr/>
        </p:nvSpPr>
        <p:spPr>
          <a:xfrm>
            <a:off x="10479024" y="6089904"/>
            <a:ext cx="256032" cy="256032"/>
          </a:xfrm>
          <a:prstGeom prst="ellipse">
            <a:avLst/>
          </a:prstGeom>
          <a:solidFill>
            <a:srgbClr val="F5C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A2E52"/>
                </a:solidFill>
                <a:latin typeface="Arial"/>
                <a:ea typeface="微軟正黑體"/>
                <a:cs typeface="微軟正黑體"/>
              </a:rPr>
              <a:t>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89920" y="6108192"/>
            <a:ext cx="10515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C4D0DE"/>
                </a:solidFill>
                <a:latin typeface="Arial"/>
                <a:ea typeface="微軟正黑體"/>
                <a:cs typeface="微軟正黑體"/>
              </a:rPr>
              <a:t>API 用量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52881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9DB5"/>
                </a:solidFill>
                <a:latin typeface="Arial"/>
                <a:ea typeface="微軟正黑體"/>
                <a:cs typeface="微軟正黑體"/>
              </a:rPr>
              <a:t>© 2026 MobileDrive Technology Co., Ltd. All rights reserved.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0" y="6510528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4DD0C1"/>
                </a:solidFill>
                <a:latin typeface="Arial"/>
                <a:ea typeface="微軟正黑體"/>
                <a:cs typeface="微軟正黑體"/>
              </a:rPr>
              <a:t>Author：PeiYu Hsu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9376" y="274320"/>
            <a:ext cx="877824" cy="49377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3BE"/>
                </a:solidFill>
              </a:rPr>
              <a:t>© 2026 MobileDrive Technology Co., Ltd. All rights reserved.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57200" y="38404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AI </a:t>
            </a:r>
            <a:r>
              <a:rPr lang="en-US" sz="2600" b="1" dirty="0" err="1">
                <a:solidFill>
                  <a:srgbClr val="FFFFFF"/>
                </a:solidFill>
              </a:rPr>
              <a:t>生成測試用例：實際專案的修改比例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93268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D2E4"/>
                </a:solidFill>
              </a:rPr>
              <a:t>每經一次審查與修改，AI 測項越來越符合審查標準，所需人工修改比例隨之下降。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1517904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初版被 Reviewer </a:t>
            </a:r>
            <a:r>
              <a:rPr lang="en-US" sz="1300" b="1" dirty="0" err="1">
                <a:solidFill>
                  <a:srgbClr val="FFFFFF"/>
                </a:solidFill>
              </a:rPr>
              <a:t>修改的程度</a:t>
            </a:r>
            <a:endParaRPr lang="en-US" sz="1300" dirty="0"/>
          </a:p>
        </p:txBody>
      </p:sp>
      <p:pic>
        <p:nvPicPr>
          <p:cNvPr id="7" name="Image 1" descr="/tmp/chart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1847088"/>
            <a:ext cx="6903720" cy="3977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635240" y="15179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CFF"/>
                </a:solidFill>
              </a:rPr>
              <a:t>重點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635240" y="1920240"/>
            <a:ext cx="4160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FFFFFF"/>
                </a:solidFill>
              </a:rPr>
              <a:t>早期 Feature：Reviewer 需改寫約 3 至 7 成的測試案例。</a:t>
            </a:r>
            <a:endParaRPr lang="en-US" sz="12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FFFFFF"/>
                </a:solidFill>
              </a:rPr>
              <a:t>每經一次審查與修改，測項越來越符合審查標準，所需修改隨之減少。</a:t>
            </a:r>
            <a:endParaRPr lang="en-US" sz="12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250" dirty="0" err="1">
                <a:solidFill>
                  <a:srgbClr val="FFFFFF"/>
                </a:solidFill>
              </a:rPr>
              <a:t>目前流程仍保留一關人工審查，並非零接觸</a:t>
            </a:r>
            <a:r>
              <a:rPr lang="en-US" sz="1250" dirty="0">
                <a:solidFill>
                  <a:srgbClr val="FFFFFF"/>
                </a:solidFill>
              </a:rPr>
              <a:t>。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7635240" y="4526280"/>
            <a:ext cx="4160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spcAft>
                <a:spcPts val="400"/>
              </a:spcAft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9376" y="274320"/>
            <a:ext cx="877824" cy="49377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3BE"/>
                </a:solidFill>
              </a:rPr>
              <a:t>© 2026 MobileDrive Technology Co., Ltd. All rights reserved.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57200" y="3291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未來規劃：以 Knowledge Base </a:t>
            </a:r>
            <a:r>
              <a:rPr lang="en-US" sz="2400" b="1" dirty="0" err="1">
                <a:solidFill>
                  <a:srgbClr val="FFFFFF"/>
                </a:solidFill>
              </a:rPr>
              <a:t>為核心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896112"/>
            <a:ext cx="274320" cy="182880"/>
          </a:xfrm>
          <a:prstGeom prst="roundRect">
            <a:avLst>
              <a:gd name="adj" fmla="val 15000"/>
            </a:avLst>
          </a:prstGeom>
          <a:solidFill>
            <a:srgbClr val="1C5A9E"/>
          </a:solidFill>
          <a:ln w="15875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3"/>
          <p:cNvSpPr/>
          <p:nvPr/>
        </p:nvSpPr>
        <p:spPr>
          <a:xfrm>
            <a:off x="786384" y="8229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D2E4"/>
                </a:solidFill>
              </a:rPr>
              <a:t>現行主線 Pipeline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926080" y="896112"/>
            <a:ext cx="274320" cy="182880"/>
          </a:xfrm>
          <a:prstGeom prst="roundRect">
            <a:avLst>
              <a:gd name="adj" fmla="val 15000"/>
            </a:avLst>
          </a:prstGeom>
          <a:solidFill>
            <a:srgbClr val="0E7C86"/>
          </a:solidFill>
          <a:ln w="15875">
            <a:solidFill>
              <a:srgbClr val="35D0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/>
          <p:cNvSpPr/>
          <p:nvPr/>
        </p:nvSpPr>
        <p:spPr>
          <a:xfrm>
            <a:off x="3255264" y="8229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D2E4"/>
                </a:solidFill>
              </a:rPr>
              <a:t>實作中 Enhanced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394960" y="896112"/>
            <a:ext cx="274320" cy="182880"/>
          </a:xfrm>
          <a:prstGeom prst="roundRect">
            <a:avLst>
              <a:gd name="adj" fmla="val 15000"/>
            </a:avLst>
          </a:prstGeom>
          <a:solidFill>
            <a:srgbClr val="163A5C"/>
          </a:solidFill>
          <a:ln w="15875">
            <a:solidFill>
              <a:srgbClr val="E8993A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7"/>
          <p:cNvSpPr/>
          <p:nvPr/>
        </p:nvSpPr>
        <p:spPr>
          <a:xfrm>
            <a:off x="5724144" y="8229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D2E4"/>
                </a:solidFill>
              </a:rPr>
              <a:t>規劃中 Planned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38328" y="1417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5D0E0"/>
                </a:solidFill>
              </a:rPr>
              <a:t>實作中 Enhanced（依現行專案）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288536" y="1737360"/>
            <a:ext cx="1673352" cy="603504"/>
          </a:xfrm>
          <a:prstGeom prst="roundRect">
            <a:avLst>
              <a:gd name="adj" fmla="val 10606"/>
            </a:avLst>
          </a:prstGeom>
          <a:solidFill>
            <a:srgbClr val="0E7C86"/>
          </a:solidFill>
          <a:ln w="19050">
            <a:solidFill>
              <a:srgbClr val="35D0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0"/>
          <p:cNvSpPr/>
          <p:nvPr/>
        </p:nvSpPr>
        <p:spPr>
          <a:xfrm>
            <a:off x="4288536" y="1737360"/>
            <a:ext cx="1673352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規格語意比對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125212" y="2340864"/>
            <a:ext cx="0" cy="630936"/>
          </a:xfrm>
          <a:prstGeom prst="line">
            <a:avLst/>
          </a:prstGeom>
          <a:noFill/>
          <a:ln w="25400">
            <a:solidFill>
              <a:srgbClr val="35D0E0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2"/>
          <p:cNvSpPr/>
          <p:nvPr/>
        </p:nvSpPr>
        <p:spPr>
          <a:xfrm>
            <a:off x="6263640" y="1737360"/>
            <a:ext cx="1673352" cy="603504"/>
          </a:xfrm>
          <a:prstGeom prst="roundRect">
            <a:avLst>
              <a:gd name="adj" fmla="val 10606"/>
            </a:avLst>
          </a:prstGeom>
          <a:solidFill>
            <a:srgbClr val="0E7C86"/>
          </a:solidFill>
          <a:ln w="19050">
            <a:solidFill>
              <a:srgbClr val="35D0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3"/>
          <p:cNvSpPr/>
          <p:nvPr/>
        </p:nvSpPr>
        <p:spPr>
          <a:xfrm>
            <a:off x="6263640" y="1737360"/>
            <a:ext cx="1673352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封閉迴路生成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100316" y="2340864"/>
            <a:ext cx="0" cy="630936"/>
          </a:xfrm>
          <a:prstGeom prst="line">
            <a:avLst/>
          </a:prstGeom>
          <a:noFill/>
          <a:ln w="25400">
            <a:solidFill>
              <a:srgbClr val="35D0E0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5"/>
          <p:cNvSpPr/>
          <p:nvPr/>
        </p:nvSpPr>
        <p:spPr>
          <a:xfrm>
            <a:off x="8238744" y="1737360"/>
            <a:ext cx="1673352" cy="603504"/>
          </a:xfrm>
          <a:prstGeom prst="roundRect">
            <a:avLst>
              <a:gd name="adj" fmla="val 10606"/>
            </a:avLst>
          </a:prstGeom>
          <a:solidFill>
            <a:srgbClr val="0E7C86"/>
          </a:solidFill>
          <a:ln w="19050">
            <a:solidFill>
              <a:srgbClr val="35D0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6"/>
          <p:cNvSpPr/>
          <p:nvPr/>
        </p:nvSpPr>
        <p:spPr>
          <a:xfrm>
            <a:off x="8238744" y="1737360"/>
            <a:ext cx="1673352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互動式審查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9075420" y="2340864"/>
            <a:ext cx="0" cy="630936"/>
          </a:xfrm>
          <a:prstGeom prst="line">
            <a:avLst/>
          </a:prstGeom>
          <a:noFill/>
          <a:ln w="25400">
            <a:solidFill>
              <a:srgbClr val="35D0E0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8"/>
          <p:cNvSpPr/>
          <p:nvPr/>
        </p:nvSpPr>
        <p:spPr>
          <a:xfrm>
            <a:off x="10213848" y="1737360"/>
            <a:ext cx="1673352" cy="603504"/>
          </a:xfrm>
          <a:prstGeom prst="roundRect">
            <a:avLst>
              <a:gd name="adj" fmla="val 10606"/>
            </a:avLst>
          </a:prstGeom>
          <a:solidFill>
            <a:srgbClr val="0E7C86"/>
          </a:solidFill>
          <a:ln w="19050">
            <a:solidFill>
              <a:srgbClr val="35D0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19"/>
          <p:cNvSpPr/>
          <p:nvPr/>
        </p:nvSpPr>
        <p:spPr>
          <a:xfrm>
            <a:off x="10213848" y="1737360"/>
            <a:ext cx="1673352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規格涵蓋率 KPI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11050524" y="2340864"/>
            <a:ext cx="0" cy="630936"/>
          </a:xfrm>
          <a:prstGeom prst="line">
            <a:avLst/>
          </a:prstGeom>
          <a:noFill/>
          <a:ln w="25400">
            <a:solidFill>
              <a:srgbClr val="35D0E0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1"/>
          <p:cNvSpPr/>
          <p:nvPr/>
        </p:nvSpPr>
        <p:spPr>
          <a:xfrm>
            <a:off x="338328" y="2971800"/>
            <a:ext cx="1673352" cy="841248"/>
          </a:xfrm>
          <a:prstGeom prst="roundRect">
            <a:avLst>
              <a:gd name="adj" fmla="val 7609"/>
            </a:avLst>
          </a:prstGeom>
          <a:solidFill>
            <a:srgbClr val="163A5C"/>
          </a:solidFill>
          <a:ln w="19050">
            <a:solidFill>
              <a:srgbClr val="E8993A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2"/>
          <p:cNvSpPr/>
          <p:nvPr/>
        </p:nvSpPr>
        <p:spPr>
          <a:xfrm>
            <a:off x="338328" y="2971800"/>
            <a:ext cx="16733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0B562"/>
                </a:solidFill>
              </a:rPr>
              <a:t>Knowledge Base</a:t>
            </a:r>
            <a:endParaRPr lang="en-US" sz="115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4D2E4"/>
                </a:solidFill>
              </a:rPr>
              <a:t>知識源（規劃中）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2011680" y="3392424"/>
            <a:ext cx="301752" cy="0"/>
          </a:xfrm>
          <a:prstGeom prst="line">
            <a:avLst/>
          </a:prstGeom>
          <a:noFill/>
          <a:ln w="25400">
            <a:solidFill>
              <a:srgbClr val="E8993A"/>
            </a:solidFill>
            <a:prstDash val="dash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4"/>
          <p:cNvSpPr/>
          <p:nvPr/>
        </p:nvSpPr>
        <p:spPr>
          <a:xfrm>
            <a:off x="2313432" y="2971800"/>
            <a:ext cx="1673352" cy="841248"/>
          </a:xfrm>
          <a:prstGeom prst="roundRect">
            <a:avLst>
              <a:gd name="adj" fmla="val 7609"/>
            </a:avLst>
          </a:prstGeom>
          <a:solidFill>
            <a:srgbClr val="1C5A9E"/>
          </a:solidFill>
          <a:ln w="1905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5"/>
          <p:cNvSpPr/>
          <p:nvPr/>
        </p:nvSpPr>
        <p:spPr>
          <a:xfrm>
            <a:off x="2313432" y="2971800"/>
            <a:ext cx="16733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需求／Spec 解析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3986784" y="3392424"/>
            <a:ext cx="301752" cy="0"/>
          </a:xfrm>
          <a:prstGeom prst="line">
            <a:avLst/>
          </a:prstGeom>
          <a:noFill/>
          <a:ln w="25400">
            <a:solidFill>
              <a:srgbClr val="5B9BD5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7"/>
          <p:cNvSpPr/>
          <p:nvPr/>
        </p:nvSpPr>
        <p:spPr>
          <a:xfrm>
            <a:off x="4288536" y="2971800"/>
            <a:ext cx="1673352" cy="841248"/>
          </a:xfrm>
          <a:prstGeom prst="roundRect">
            <a:avLst>
              <a:gd name="adj" fmla="val 7609"/>
            </a:avLst>
          </a:prstGeom>
          <a:solidFill>
            <a:srgbClr val="1C5A9E"/>
          </a:solidFill>
          <a:ln w="1905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8"/>
          <p:cNvSpPr/>
          <p:nvPr/>
        </p:nvSpPr>
        <p:spPr>
          <a:xfrm>
            <a:off x="4288536" y="2971800"/>
            <a:ext cx="16733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Domain Pack</a:t>
            </a:r>
          </a:p>
        </p:txBody>
      </p:sp>
      <p:sp>
        <p:nvSpPr>
          <p:cNvPr id="32" name="Shape 29"/>
          <p:cNvSpPr/>
          <p:nvPr/>
        </p:nvSpPr>
        <p:spPr>
          <a:xfrm>
            <a:off x="5961888" y="3392424"/>
            <a:ext cx="301752" cy="0"/>
          </a:xfrm>
          <a:prstGeom prst="line">
            <a:avLst/>
          </a:prstGeom>
          <a:noFill/>
          <a:ln w="25400">
            <a:solidFill>
              <a:srgbClr val="5B9BD5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Shape 30"/>
          <p:cNvSpPr/>
          <p:nvPr/>
        </p:nvSpPr>
        <p:spPr>
          <a:xfrm>
            <a:off x="6263640" y="2971800"/>
            <a:ext cx="1673352" cy="841248"/>
          </a:xfrm>
          <a:prstGeom prst="roundRect">
            <a:avLst>
              <a:gd name="adj" fmla="val 7609"/>
            </a:avLst>
          </a:prstGeom>
          <a:solidFill>
            <a:srgbClr val="1C5A9E"/>
          </a:solidFill>
          <a:ln w="1905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1"/>
          <p:cNvSpPr/>
          <p:nvPr/>
        </p:nvSpPr>
        <p:spPr>
          <a:xfrm>
            <a:off x="6263640" y="2971800"/>
            <a:ext cx="16733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測項生成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7936992" y="3392424"/>
            <a:ext cx="301752" cy="0"/>
          </a:xfrm>
          <a:prstGeom prst="line">
            <a:avLst/>
          </a:prstGeom>
          <a:noFill/>
          <a:ln w="25400">
            <a:solidFill>
              <a:srgbClr val="5B9BD5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Shape 33"/>
          <p:cNvSpPr/>
          <p:nvPr/>
        </p:nvSpPr>
        <p:spPr>
          <a:xfrm>
            <a:off x="8238744" y="2971800"/>
            <a:ext cx="1673352" cy="841248"/>
          </a:xfrm>
          <a:prstGeom prst="roundRect">
            <a:avLst>
              <a:gd name="adj" fmla="val 7609"/>
            </a:avLst>
          </a:prstGeom>
          <a:solidFill>
            <a:srgbClr val="1C5A9E"/>
          </a:solidFill>
          <a:ln w="1905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4"/>
          <p:cNvSpPr/>
          <p:nvPr/>
        </p:nvSpPr>
        <p:spPr>
          <a:xfrm>
            <a:off x="8238744" y="2971800"/>
            <a:ext cx="16733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SWE.6 </a:t>
            </a:r>
            <a:r>
              <a:rPr lang="en-US" altLang="zh-TW" sz="1150" b="1" dirty="0">
                <a:solidFill>
                  <a:srgbClr val="FFFFFF"/>
                </a:solidFill>
              </a:rPr>
              <a:t>Review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9912096" y="3392424"/>
            <a:ext cx="301752" cy="0"/>
          </a:xfrm>
          <a:prstGeom prst="line">
            <a:avLst/>
          </a:prstGeom>
          <a:noFill/>
          <a:ln w="25400">
            <a:solidFill>
              <a:srgbClr val="5B9BD5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Shape 36"/>
          <p:cNvSpPr/>
          <p:nvPr/>
        </p:nvSpPr>
        <p:spPr>
          <a:xfrm>
            <a:off x="10213848" y="2971800"/>
            <a:ext cx="1673352" cy="841248"/>
          </a:xfrm>
          <a:prstGeom prst="roundRect">
            <a:avLst>
              <a:gd name="adj" fmla="val 7609"/>
            </a:avLst>
          </a:prstGeom>
          <a:solidFill>
            <a:srgbClr val="1C5A9E"/>
          </a:solidFill>
          <a:ln w="1905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Text 37"/>
          <p:cNvSpPr/>
          <p:nvPr/>
        </p:nvSpPr>
        <p:spPr>
          <a:xfrm>
            <a:off x="10213848" y="2971800"/>
            <a:ext cx="16733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 err="1">
                <a:solidFill>
                  <a:srgbClr val="FFFFFF"/>
                </a:solidFill>
              </a:rPr>
              <a:t>KPI・匯出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9075420" y="3813048"/>
            <a:ext cx="0" cy="594360"/>
          </a:xfrm>
          <a:prstGeom prst="line">
            <a:avLst/>
          </a:prstGeom>
          <a:noFill/>
          <a:ln w="28575">
            <a:solidFill>
              <a:srgbClr val="E8993A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Shape 39"/>
          <p:cNvSpPr/>
          <p:nvPr/>
        </p:nvSpPr>
        <p:spPr>
          <a:xfrm>
            <a:off x="1175004" y="4407408"/>
            <a:ext cx="7900416" cy="0"/>
          </a:xfrm>
          <a:prstGeom prst="line">
            <a:avLst/>
          </a:prstGeom>
          <a:noFill/>
          <a:ln w="28575">
            <a:solidFill>
              <a:srgbClr val="E8993A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Shape 40"/>
          <p:cNvSpPr/>
          <p:nvPr/>
        </p:nvSpPr>
        <p:spPr>
          <a:xfrm>
            <a:off x="1175004" y="4407408"/>
            <a:ext cx="0" cy="0"/>
          </a:xfrm>
          <a:prstGeom prst="line">
            <a:avLst/>
          </a:prstGeom>
          <a:noFill/>
          <a:ln w="28575">
            <a:solidFill>
              <a:srgbClr val="E8993A"/>
            </a:solidFill>
            <a:prstDash val="dash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Text 41"/>
          <p:cNvSpPr/>
          <p:nvPr/>
        </p:nvSpPr>
        <p:spPr>
          <a:xfrm>
            <a:off x="1449324" y="4096512"/>
            <a:ext cx="7351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0B562"/>
                </a:solidFill>
              </a:rPr>
              <a:t>規劃中 · 審查機制完善後，將審查標準與發現回饋 Knowledge Base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5D0E0"/>
                </a:solidFill>
              </a:rPr>
              <a:t>Knowledge Base 組成</a:t>
            </a:r>
            <a:endParaRPr lang="en-US" sz="1300" dirty="0"/>
          </a:p>
        </p:txBody>
      </p:sp>
      <p:sp>
        <p:nvSpPr>
          <p:cNvPr id="46" name="Shape 43"/>
          <p:cNvSpPr/>
          <p:nvPr/>
        </p:nvSpPr>
        <p:spPr>
          <a:xfrm>
            <a:off x="457200" y="5102352"/>
            <a:ext cx="1051560" cy="402336"/>
          </a:xfrm>
          <a:prstGeom prst="roundRect">
            <a:avLst>
              <a:gd name="adj" fmla="val 15909"/>
            </a:avLst>
          </a:prstGeom>
          <a:solidFill>
            <a:srgbClr val="163A5C"/>
          </a:solidFill>
          <a:ln w="19050">
            <a:solidFill>
              <a:srgbClr val="E8993A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Text 44"/>
          <p:cNvSpPr/>
          <p:nvPr/>
        </p:nvSpPr>
        <p:spPr>
          <a:xfrm>
            <a:off x="457200" y="5102352"/>
            <a:ext cx="105156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B562"/>
                </a:solidFill>
              </a:rPr>
              <a:t>SPEC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1508760" y="5303520"/>
            <a:ext cx="274320" cy="0"/>
          </a:xfrm>
          <a:prstGeom prst="line">
            <a:avLst/>
          </a:prstGeom>
          <a:noFill/>
          <a:ln w="25400">
            <a:solidFill>
              <a:srgbClr val="E8993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Shape 46"/>
          <p:cNvSpPr/>
          <p:nvPr/>
        </p:nvSpPr>
        <p:spPr>
          <a:xfrm>
            <a:off x="1783080" y="5102352"/>
            <a:ext cx="1051560" cy="402336"/>
          </a:xfrm>
          <a:prstGeom prst="roundRect">
            <a:avLst>
              <a:gd name="adj" fmla="val 15909"/>
            </a:avLst>
          </a:prstGeom>
          <a:solidFill>
            <a:srgbClr val="163A5C"/>
          </a:solidFill>
          <a:ln w="19050">
            <a:solidFill>
              <a:srgbClr val="E8993A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Text 47"/>
          <p:cNvSpPr/>
          <p:nvPr/>
        </p:nvSpPr>
        <p:spPr>
          <a:xfrm>
            <a:off x="1783080" y="5102352"/>
            <a:ext cx="105156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B562"/>
                </a:solidFill>
              </a:rPr>
              <a:t>SYS2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2834640" y="5303520"/>
            <a:ext cx="274320" cy="0"/>
          </a:xfrm>
          <a:prstGeom prst="line">
            <a:avLst/>
          </a:prstGeom>
          <a:noFill/>
          <a:ln w="25400">
            <a:solidFill>
              <a:srgbClr val="E8993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Shape 49"/>
          <p:cNvSpPr/>
          <p:nvPr/>
        </p:nvSpPr>
        <p:spPr>
          <a:xfrm>
            <a:off x="3108960" y="5102352"/>
            <a:ext cx="1554480" cy="402336"/>
          </a:xfrm>
          <a:prstGeom prst="roundRect">
            <a:avLst>
              <a:gd name="adj" fmla="val 15909"/>
            </a:avLst>
          </a:prstGeom>
          <a:solidFill>
            <a:srgbClr val="163A5C"/>
          </a:solidFill>
          <a:ln w="19050">
            <a:solidFill>
              <a:srgbClr val="E8993A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Text 50"/>
          <p:cNvSpPr/>
          <p:nvPr/>
        </p:nvSpPr>
        <p:spPr>
          <a:xfrm>
            <a:off x="3108960" y="5102352"/>
            <a:ext cx="155448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B562"/>
                </a:solidFill>
              </a:rPr>
              <a:t>SYS3 分析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457200" y="5623560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4D2E4"/>
                </a:solidFill>
              </a:rPr>
              <a:t>由 SPEC → SYS2 → SYS3 的分析串接：先建立主要規格與分析框架，補足 SPEC 與 SWE1 之間缺少的關聯，讓原始 SPEC 能更好地與 SWE1 銜接。</a:t>
            </a:r>
            <a:endParaRPr lang="en-US" sz="1150" dirty="0"/>
          </a:p>
        </p:txBody>
      </p:sp>
      <p:sp>
        <p:nvSpPr>
          <p:cNvPr id="55" name="Text 52"/>
          <p:cNvSpPr/>
          <p:nvPr/>
        </p:nvSpPr>
        <p:spPr>
          <a:xfrm>
            <a:off x="635508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F0B562"/>
                </a:solidFill>
              </a:rPr>
              <a:t>審查回饋</a:t>
            </a:r>
            <a:endParaRPr lang="en-US" sz="1300" dirty="0"/>
          </a:p>
        </p:txBody>
      </p:sp>
      <p:sp>
        <p:nvSpPr>
          <p:cNvPr id="56" name="Text 53"/>
          <p:cNvSpPr/>
          <p:nvPr/>
        </p:nvSpPr>
        <p:spPr>
          <a:xfrm>
            <a:off x="6355080" y="5102352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4D2E4"/>
                </a:solidFill>
              </a:rPr>
              <a:t>當 Review 機制建立得更完整，會把累積的審查標準與發現連接進 Knowledge Base；知識庫再回頭強化測項生成與審查，形成正向循環，讓測項越來越符合審查標準、整體機制持續變好。</a:t>
            </a:r>
            <a:endParaRPr lang="en-US" sz="1150" dirty="0"/>
          </a:p>
        </p:txBody>
      </p:sp>
      <p:sp>
        <p:nvSpPr>
          <p:cNvPr id="57" name="Rounded Rectangle 56"/>
          <p:cNvSpPr/>
          <p:nvPr/>
        </p:nvSpPr>
        <p:spPr>
          <a:xfrm>
            <a:off x="338328" y="1847088"/>
            <a:ext cx="3794760" cy="960120"/>
          </a:xfrm>
          <a:prstGeom prst="roundRect">
            <a:avLst>
              <a:gd name="adj" fmla="val 6000"/>
            </a:avLst>
          </a:prstGeom>
          <a:solidFill>
            <a:srgbClr val="163A5C"/>
          </a:solidFill>
          <a:ln w="19050">
            <a:solidFill>
              <a:srgbClr val="E899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28016" bIns="54864" rtlCol="0" anchor="ctr"/>
          <a:lstStyle/>
          <a:p>
            <a:pPr algn="l">
              <a:spcAft>
                <a:spcPts val="300"/>
              </a:spcAft>
            </a:pPr>
            <a:r>
              <a:rPr sz="1250" b="1" i="0" dirty="0" err="1">
                <a:solidFill>
                  <a:srgbClr val="FFFFFF"/>
                </a:solidFill>
                <a:latin typeface="Arial"/>
                <a:ea typeface="微軟正黑體"/>
                <a:cs typeface="微軟正黑體"/>
              </a:rPr>
              <a:t>雲端</a:t>
            </a:r>
            <a:r>
              <a:rPr sz="1250" b="1" i="0" dirty="0">
                <a:solidFill>
                  <a:srgbClr val="FFFFFF"/>
                </a:solidFill>
                <a:latin typeface="Arial"/>
                <a:ea typeface="微軟正黑體"/>
                <a:cs typeface="微軟正黑體"/>
              </a:rPr>
              <a:t> API  →  </a:t>
            </a:r>
            <a:r>
              <a:rPr sz="1250" b="1" i="0" dirty="0" err="1">
                <a:solidFill>
                  <a:srgbClr val="FFFFFF"/>
                </a:solidFill>
                <a:latin typeface="Arial"/>
                <a:ea typeface="微軟正黑體"/>
                <a:cs typeface="微軟正黑體"/>
              </a:rPr>
              <a:t>地端</a:t>
            </a:r>
            <a:r>
              <a:rPr sz="1250" b="1" i="0" dirty="0">
                <a:solidFill>
                  <a:srgbClr val="FFFFFF"/>
                </a:solidFill>
                <a:latin typeface="Arial"/>
                <a:ea typeface="微軟正黑體"/>
                <a:cs typeface="微軟正黑體"/>
              </a:rPr>
              <a:t> / </a:t>
            </a:r>
            <a:r>
              <a:rPr sz="1250" b="1" i="0" dirty="0" err="1">
                <a:solidFill>
                  <a:srgbClr val="FFFFFF"/>
                </a:solidFill>
                <a:latin typeface="Arial"/>
                <a:ea typeface="微軟正黑體"/>
                <a:cs typeface="微軟正黑體"/>
              </a:rPr>
              <a:t>自建</a:t>
            </a:r>
            <a:r>
              <a:rPr lang="en-US" altLang="zh-TW" sz="1250" b="1" i="0" dirty="0" err="1">
                <a:solidFill>
                  <a:srgbClr val="FFFFFF"/>
                </a:solidFill>
                <a:latin typeface="Arial"/>
                <a:ea typeface="微軟正黑體"/>
                <a:cs typeface="微軟正黑體"/>
              </a:rPr>
              <a:t>LLM</a:t>
            </a:r>
            <a:endParaRPr sz="1250" b="1" i="0" dirty="0">
              <a:solidFill>
                <a:srgbClr val="FFFFFF"/>
              </a:solidFill>
              <a:latin typeface="Arial"/>
              <a:ea typeface="微軟正黑體"/>
              <a:cs typeface="微軟正黑體"/>
            </a:endParaRPr>
          </a:p>
          <a:p>
            <a:pPr algn="l">
              <a:spcBef>
                <a:spcPts val="0"/>
              </a:spcBef>
            </a:pPr>
            <a:r>
              <a:rPr sz="1000" b="0" i="0" dirty="0" err="1">
                <a:solidFill>
                  <a:srgbClr val="C4D2E4"/>
                </a:solidFill>
                <a:latin typeface="Arial"/>
                <a:ea typeface="微軟正黑體"/>
                <a:cs typeface="微軟正黑體"/>
              </a:rPr>
              <a:t>現行以雲端</a:t>
            </a:r>
            <a:r>
              <a:rPr sz="1000" b="0" i="0" dirty="0">
                <a:solidFill>
                  <a:srgbClr val="C4D2E4"/>
                </a:solidFill>
                <a:latin typeface="Arial"/>
                <a:ea typeface="微軟正黑體"/>
                <a:cs typeface="微軟正黑體"/>
              </a:rPr>
              <a:t> API </a:t>
            </a:r>
            <a:r>
              <a:rPr sz="1000" b="0" i="0" dirty="0" err="1">
                <a:solidFill>
                  <a:srgbClr val="C4D2E4"/>
                </a:solidFill>
                <a:latin typeface="Arial"/>
                <a:ea typeface="微軟正黑體"/>
                <a:cs typeface="微軟正黑體"/>
              </a:rPr>
              <a:t>生成；順序排在</a:t>
            </a:r>
            <a:r>
              <a:rPr sz="1000" b="0" i="0" dirty="0">
                <a:solidFill>
                  <a:srgbClr val="C4D2E4"/>
                </a:solidFill>
                <a:latin typeface="Arial"/>
                <a:ea typeface="微軟正黑體"/>
                <a:cs typeface="微軟正黑體"/>
              </a:rPr>
              <a:t> Knowledge Base </a:t>
            </a:r>
            <a:r>
              <a:rPr sz="1000" b="0" i="0" dirty="0" err="1">
                <a:solidFill>
                  <a:srgbClr val="C4D2E4"/>
                </a:solidFill>
                <a:latin typeface="Arial"/>
                <a:ea typeface="微軟正黑體"/>
                <a:cs typeface="微軟正黑體"/>
              </a:rPr>
              <a:t>之後</a:t>
            </a:r>
            <a:r>
              <a:rPr sz="1000" b="0" i="0" dirty="0">
                <a:solidFill>
                  <a:srgbClr val="C4D2E4"/>
                </a:solidFill>
                <a:latin typeface="Arial"/>
                <a:ea typeface="微軟正黑體"/>
                <a:cs typeface="微軟正黑體"/>
              </a:rPr>
              <a:t>——</a:t>
            </a:r>
            <a:r>
              <a:rPr sz="1000" b="0" i="0" dirty="0" err="1">
                <a:solidFill>
                  <a:srgbClr val="C4D2E4"/>
                </a:solidFill>
                <a:latin typeface="Arial"/>
                <a:ea typeface="微軟正黑體"/>
                <a:cs typeface="微軟正黑體"/>
              </a:rPr>
              <a:t>待</a:t>
            </a:r>
            <a:r>
              <a:rPr sz="1000" b="0" i="0" dirty="0">
                <a:solidFill>
                  <a:srgbClr val="C4D2E4"/>
                </a:solidFill>
                <a:latin typeface="Arial"/>
                <a:ea typeface="微軟正黑體"/>
                <a:cs typeface="微軟正黑體"/>
              </a:rPr>
              <a:t> KB </a:t>
            </a:r>
            <a:r>
              <a:rPr sz="1000" b="0" i="0" dirty="0" err="1">
                <a:solidFill>
                  <a:srgbClr val="C4D2E4"/>
                </a:solidFill>
                <a:latin typeface="Arial"/>
                <a:ea typeface="微軟正黑體"/>
                <a:cs typeface="微軟正黑體"/>
              </a:rPr>
              <a:t>建立、生成品質穩定後，再啟動地端／自建模型，降低</a:t>
            </a:r>
            <a:r>
              <a:rPr sz="1000" b="0" i="0" dirty="0">
                <a:solidFill>
                  <a:srgbClr val="C4D2E4"/>
                </a:solidFill>
                <a:latin typeface="Arial"/>
                <a:ea typeface="微軟正黑體"/>
                <a:cs typeface="微軟正黑體"/>
              </a:rPr>
              <a:t> API </a:t>
            </a:r>
            <a:r>
              <a:rPr sz="1000" b="0" i="0" dirty="0" err="1">
                <a:solidFill>
                  <a:srgbClr val="C4D2E4"/>
                </a:solidFill>
                <a:latin typeface="Arial"/>
                <a:ea typeface="微軟正黑體"/>
                <a:cs typeface="微軟正黑體"/>
              </a:rPr>
              <a:t>成本並確保資料不外流</a:t>
            </a:r>
            <a:r>
              <a:rPr sz="1000" b="0" i="0" dirty="0">
                <a:solidFill>
                  <a:srgbClr val="C4D2E4"/>
                </a:solidFill>
                <a:latin typeface="Arial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84632" y="1719072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2A2A14"/>
          </a:solidFill>
          <a:ln w="12700">
            <a:solidFill>
              <a:srgbClr val="E899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i="0">
                <a:solidFill>
                  <a:srgbClr val="F0B562"/>
                </a:solidFill>
                <a:latin typeface="Arial"/>
                <a:ea typeface="微軟正黑體"/>
                <a:cs typeface="微軟正黑體"/>
              </a:rPr>
              <a:t>規劃中 Planned · 部署演進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307</Words>
  <Application>Microsoft Macintosh PowerPoint</Application>
  <PresentationFormat>寬螢幕</PresentationFormat>
  <Paragraphs>76</Paragraphs>
  <Slides>3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PeiPYHsu(許珮瑜)</cp:lastModifiedBy>
  <cp:revision>4</cp:revision>
  <dcterms:created xsi:type="dcterms:W3CDTF">2026-07-18T09:18:56Z</dcterms:created>
  <dcterms:modified xsi:type="dcterms:W3CDTF">2026-07-20T03:28:10Z</dcterms:modified>
</cp:coreProperties>
</file>