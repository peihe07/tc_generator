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20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1031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Microsoft JhengHei"/>
              </a:rPr>
              <a:t>TC Generator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7782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4D0DE"/>
                </a:solidFill>
                <a:latin typeface="Arial"/>
                <a:ea typeface="Microsoft JhengHei"/>
              </a:rPr>
              <a:t>AI-assisted pipeline for generating and validating ASPICE SWE.6 test cases with human review control.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307592"/>
            <a:ext cx="182880" cy="2743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3503" y="1307592"/>
            <a:ext cx="11064240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58600" y="1307592"/>
            <a:ext cx="64008" cy="2743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197863"/>
            <a:ext cx="11338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DD0C1"/>
                </a:solidFill>
                <a:latin typeface="Arial"/>
                <a:ea typeface="Microsoft JhengHei"/>
              </a:rPr>
              <a:t>PIPELINE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4048" y="1490472"/>
            <a:ext cx="2048256" cy="777240"/>
          </a:xfrm>
          <a:prstGeom prst="roundRect">
            <a:avLst>
              <a:gd name="adj" fmla="val 20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84048" y="1581912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Upload | SWE.1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" y="1993391"/>
            <a:ext cx="204825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A9DB5"/>
                </a:solidFill>
                <a:latin typeface="Arial"/>
                <a:ea typeface="Microsoft JhengHei"/>
              </a:rPr>
              <a:t>(+ SPEC, REF)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68880" y="1819655"/>
            <a:ext cx="201168" cy="146304"/>
          </a:xfrm>
          <a:prstGeom prst="rightArrow">
            <a:avLst/>
          </a:prstGeom>
          <a:solidFill>
            <a:srgbClr val="1C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2706624" y="1490472"/>
            <a:ext cx="2048256" cy="777240"/>
          </a:xfrm>
          <a:prstGeom prst="roundRect">
            <a:avLst>
              <a:gd name="adj" fmla="val 20000"/>
            </a:avLst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706624" y="1581912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0A2E52"/>
                </a:solidFill>
                <a:latin typeface="Arial"/>
                <a:ea typeface="Microsoft JhengHei"/>
              </a:rPr>
              <a:t>AI Generate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06624" y="1993391"/>
            <a:ext cx="204825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0A2E52"/>
                </a:solidFill>
                <a:latin typeface="Arial"/>
                <a:ea typeface="Microsoft JhengHei"/>
              </a:rPr>
              <a:t>LLM core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91456" y="1819655"/>
            <a:ext cx="201168" cy="146304"/>
          </a:xfrm>
          <a:prstGeom prst="rightArrow">
            <a:avLst/>
          </a:prstGeom>
          <a:solidFill>
            <a:srgbClr val="1C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029200" y="1490472"/>
            <a:ext cx="2048256" cy="777240"/>
          </a:xfrm>
          <a:prstGeom prst="roundRect">
            <a:avLst>
              <a:gd name="adj" fmla="val 20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0" y="1581912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SWE.6 Validate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1993391"/>
            <a:ext cx="204825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A9DB5"/>
                </a:solidFill>
                <a:latin typeface="Arial"/>
                <a:ea typeface="Microsoft JhengHei"/>
              </a:rPr>
              <a:t>rule + AI audit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14032" y="1819655"/>
            <a:ext cx="201168" cy="146304"/>
          </a:xfrm>
          <a:prstGeom prst="rightArrow">
            <a:avLst/>
          </a:prstGeom>
          <a:solidFill>
            <a:srgbClr val="1C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7351776" y="1490472"/>
            <a:ext cx="2048256" cy="777240"/>
          </a:xfrm>
          <a:prstGeom prst="roundRect">
            <a:avLst>
              <a:gd name="adj" fmla="val 20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51776" y="1581912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Human Review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51776" y="1993391"/>
            <a:ext cx="204825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A9DB5"/>
                </a:solidFill>
                <a:latin typeface="Arial"/>
                <a:ea typeface="Microsoft JhengHei"/>
              </a:rPr>
              <a:t>in-app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36608" y="1819655"/>
            <a:ext cx="201168" cy="146304"/>
          </a:xfrm>
          <a:prstGeom prst="rightArrow">
            <a:avLst/>
          </a:prstGeom>
          <a:solidFill>
            <a:srgbClr val="1C91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9674352" y="1490472"/>
            <a:ext cx="2048256" cy="777240"/>
          </a:xfrm>
          <a:prstGeom prst="roundRect">
            <a:avLst>
              <a:gd name="adj" fmla="val 20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674352" y="1581912"/>
            <a:ext cx="20482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Export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74352" y="1993391"/>
            <a:ext cx="2048256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900" b="0">
                <a:solidFill>
                  <a:srgbClr val="8A9DB5"/>
                </a:solidFill>
                <a:latin typeface="Arial"/>
                <a:ea typeface="Microsoft JhengHei"/>
              </a:rPr>
              <a:t>Excel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66744" y="2395728"/>
            <a:ext cx="48006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0">
                <a:solidFill>
                  <a:srgbClr val="F5C34D"/>
                </a:solidFill>
                <a:latin typeface="Arial"/>
                <a:ea typeface="Microsoft JhengHei"/>
              </a:rPr>
              <a:t>↑ AI used only during generation; validation and export remain rule-based and deterministic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65760" y="2706624"/>
            <a:ext cx="5669280" cy="100584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65760" y="2706624"/>
            <a:ext cx="73152" cy="1005840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5925312" y="2798064"/>
            <a:ext cx="109728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2798064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5C34D"/>
                </a:solidFill>
                <a:latin typeface="Arial"/>
                <a:ea typeface="Microsoft JhengHei"/>
              </a:rPr>
              <a:t>01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234440" y="2871216"/>
            <a:ext cx="18288" cy="292608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325880" y="288950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Microsoft JhengHei"/>
              </a:rPr>
              <a:t>WHY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" y="3273552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Manual SWE.6 test case authoring is time-consuming, repetitive, and difficult to standardize across reviewers.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3803904"/>
            <a:ext cx="5669280" cy="141732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365760" y="3803904"/>
            <a:ext cx="73152" cy="1417320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5925312" y="3895344"/>
            <a:ext cx="109728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3895344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5C34D"/>
                </a:solidFill>
                <a:latin typeface="Arial"/>
                <a:ea typeface="Microsoft JhengHei"/>
              </a:rPr>
              <a:t>02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234440" y="3968496"/>
            <a:ext cx="18288" cy="292608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325880" y="3986784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Microsoft JhengHei"/>
              </a:rPr>
              <a:t>TEAM IMPACT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6656" y="4370832"/>
            <a:ext cx="5212080" cy="7772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Reduce repetitive TC authoring effort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Keep human approval in-loop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Lower review variance across reviewers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Accelerate response to requirement changes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65760" y="5340096"/>
            <a:ext cx="5669280" cy="1005840"/>
          </a:xfrm>
          <a:prstGeom prst="roundRect">
            <a:avLst>
              <a:gd name="adj" fmla="val 8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65760" y="5340096"/>
            <a:ext cx="73152" cy="1005840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5925312" y="5431536"/>
            <a:ext cx="109728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5431536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5C34D"/>
                </a:solidFill>
                <a:latin typeface="Arial"/>
                <a:ea typeface="Microsoft JhengHei"/>
              </a:rPr>
              <a:t>03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234440" y="5504688"/>
            <a:ext cx="18288" cy="292608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325880" y="5522976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Microsoft JhengHei"/>
              </a:rPr>
              <a:t>NEXT STEPS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6656" y="5907024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Validate generated TCs against reviewed engineering test cases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Evaluate deployment cost and internal model options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72784" y="2706624"/>
            <a:ext cx="5559552" cy="3419856"/>
          </a:xfrm>
          <a:prstGeom prst="roundRect">
            <a:avLst>
              <a:gd name="adj" fmla="val 4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6272784" y="2706624"/>
            <a:ext cx="73152" cy="341985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492240" y="2788920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4DD0C1"/>
                </a:solidFill>
                <a:latin typeface="Arial"/>
                <a:ea typeface="Microsoft JhengHei"/>
              </a:rPr>
              <a:t>KEY METRICS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92240" y="3200400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C34D"/>
                </a:solidFill>
                <a:latin typeface="Arial"/>
                <a:ea typeface="Microsoft JhengHei"/>
              </a:rPr>
              <a:t>90~95%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329184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  <a:ea typeface="Microsoft JhengHei"/>
              </a:rPr>
              <a:t>工時節省 / time saved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40" y="3913632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C34D"/>
                </a:solidFill>
                <a:latin typeface="Arial"/>
                <a:ea typeface="Microsoft JhengHei"/>
              </a:rPr>
              <a:t>10×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95360" y="4005072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  <a:ea typeface="Microsoft JhengHei"/>
              </a:rPr>
              <a:t>單日 TC 產出倍率 / daily output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92240" y="4626864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C34D"/>
                </a:solidFill>
                <a:latin typeface="Arial"/>
                <a:ea typeface="Microsoft JhengHei"/>
              </a:rPr>
              <a:t>&lt; 1 hr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95360" y="4718304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  <a:ea typeface="Microsoft JhengHei"/>
              </a:rPr>
              <a:t>規格變更同步 / change sync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92240" y="5340096"/>
            <a:ext cx="21031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600" b="1">
                <a:solidFill>
                  <a:srgbClr val="F5C34D"/>
                </a:solidFill>
                <a:latin typeface="Arial"/>
                <a:ea typeface="Microsoft JhengHei"/>
              </a:rPr>
              <a:t>4~8 hrs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595360" y="5431536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Arial"/>
                <a:ea typeface="Microsoft JhengHei"/>
              </a:rPr>
              <a:t>完整模組產出 / per module</a:t>
            </a:r>
          </a:p>
        </p:txBody>
      </p:sp>
      <p:sp>
        <p:nvSpPr>
          <p:cNvPr id="60" name="Oval 59"/>
          <p:cNvSpPr/>
          <p:nvPr/>
        </p:nvSpPr>
        <p:spPr>
          <a:xfrm>
            <a:off x="6382512" y="6135624"/>
            <a:ext cx="256032" cy="256032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6382512" y="6144768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A2E52"/>
                </a:solidFill>
                <a:latin typeface="Arial"/>
                <a:ea typeface="Microsoft JhengHei"/>
              </a:rPr>
              <a:t>A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711696" y="615391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Pain</a:t>
            </a:r>
          </a:p>
        </p:txBody>
      </p:sp>
      <p:sp>
        <p:nvSpPr>
          <p:cNvPr id="63" name="Oval 62"/>
          <p:cNvSpPr/>
          <p:nvPr/>
        </p:nvSpPr>
        <p:spPr>
          <a:xfrm>
            <a:off x="7754112" y="6135624"/>
            <a:ext cx="256032" cy="256032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7754112" y="6144768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A2E52"/>
                </a:solidFill>
                <a:latin typeface="Arial"/>
                <a:ea typeface="Microsoft JhengHei"/>
              </a:rPr>
              <a:t>B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083296" y="615391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Solution</a:t>
            </a:r>
          </a:p>
        </p:txBody>
      </p:sp>
      <p:sp>
        <p:nvSpPr>
          <p:cNvPr id="66" name="Oval 65"/>
          <p:cNvSpPr/>
          <p:nvPr/>
        </p:nvSpPr>
        <p:spPr>
          <a:xfrm>
            <a:off x="9125712" y="6135624"/>
            <a:ext cx="256032" cy="256032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9125712" y="6144768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A2E52"/>
                </a:solidFill>
                <a:latin typeface="Arial"/>
                <a:ea typeface="Microsoft JhengHei"/>
              </a:rPr>
              <a:t>C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454896" y="615391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Effect</a:t>
            </a:r>
          </a:p>
        </p:txBody>
      </p:sp>
      <p:sp>
        <p:nvSpPr>
          <p:cNvPr id="69" name="Oval 68"/>
          <p:cNvSpPr/>
          <p:nvPr/>
        </p:nvSpPr>
        <p:spPr>
          <a:xfrm>
            <a:off x="10497312" y="6135624"/>
            <a:ext cx="256032" cy="256032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10497312" y="6144768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A2E52"/>
                </a:solidFill>
                <a:latin typeface="Arial"/>
                <a:ea typeface="Microsoft JhengHei"/>
              </a:rPr>
              <a:t>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0826496" y="6153912"/>
            <a:ext cx="1005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Setup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110727" y="64922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DD0C1"/>
                </a:solidFill>
                <a:latin typeface="Arial"/>
                <a:ea typeface="Microsoft JhengHei"/>
              </a:rPr>
              <a:t>Author : PeiYu Hsu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972800" y="6501384"/>
            <a:ext cx="118872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1031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Microsoft JhengHei"/>
              </a:rPr>
              <a:t>Pain Points →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7782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4D0DE"/>
                </a:solidFill>
                <a:latin typeface="Arial"/>
                <a:ea typeface="Microsoft JhengHei"/>
              </a:rPr>
              <a:t>From manual SWE.6 TC authoring to AI-assisted, human-in-the-loop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80160"/>
            <a:ext cx="182880" cy="2743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3503" y="1280160"/>
            <a:ext cx="11064240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58600" y="1280160"/>
            <a:ext cx="64008" cy="2743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170432"/>
            <a:ext cx="11338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DD0C1"/>
                </a:solidFill>
                <a:latin typeface="Arial"/>
                <a:ea typeface="Microsoft JhengHei"/>
              </a:rPr>
              <a:t>BEFORE vs AFTER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5669280" cy="4663440"/>
          </a:xfrm>
          <a:prstGeom prst="roundRect">
            <a:avLst>
              <a:gd name="adj" fmla="val 3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73152" cy="4663440"/>
          </a:xfrm>
          <a:prstGeom prst="rect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66420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5C34D"/>
                </a:solidFill>
                <a:latin typeface="Arial"/>
                <a:ea typeface="Microsoft JhengHei"/>
              </a:rPr>
              <a:t>BEFORE — Manual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0312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Pure-human authoring against ASPICE SWE.6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2606040"/>
            <a:ext cx="91440" cy="91440"/>
          </a:xfrm>
          <a:prstGeom prst="ellipse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8680" y="25146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撰寫耗時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25328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100~150 TC 約需 9~15 天 / 人</a:t>
            </a:r>
          </a:p>
        </p:txBody>
      </p:sp>
      <p:sp>
        <p:nvSpPr>
          <p:cNvPr id="15" name="Oval 14"/>
          <p:cNvSpPr/>
          <p:nvPr/>
        </p:nvSpPr>
        <p:spPr>
          <a:xfrm>
            <a:off x="685800" y="3108960"/>
            <a:ext cx="91440" cy="91440"/>
          </a:xfrm>
          <a:prstGeom prst="ellipse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3017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品質參差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303580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依個人經驗，新人差距大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3611880"/>
            <a:ext cx="91440" cy="91440"/>
          </a:xfrm>
          <a:prstGeom prst="ellipse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68680" y="35204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規範易漏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80" y="353872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ASPICE 條款多，新人不熟</a:t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4114800"/>
            <a:ext cx="91440" cy="91440"/>
          </a:xfrm>
          <a:prstGeom prst="ellipse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" y="4023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Traceability 斷鏈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97480" y="404164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人工建表易遺漏</a:t>
            </a:r>
          </a:p>
        </p:txBody>
      </p:sp>
      <p:sp>
        <p:nvSpPr>
          <p:cNvPr id="24" name="Oval 23"/>
          <p:cNvSpPr/>
          <p:nvPr/>
        </p:nvSpPr>
        <p:spPr>
          <a:xfrm>
            <a:off x="685800" y="4617720"/>
            <a:ext cx="91440" cy="91440"/>
          </a:xfrm>
          <a:prstGeom prst="ellipse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68680" y="4526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變更同步成本高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97480" y="454456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規格一改 → 全面回頭更新</a:t>
            </a:r>
          </a:p>
        </p:txBody>
      </p:sp>
      <p:sp>
        <p:nvSpPr>
          <p:cNvPr id="27" name="Oval 26"/>
          <p:cNvSpPr/>
          <p:nvPr/>
        </p:nvSpPr>
        <p:spPr>
          <a:xfrm>
            <a:off x="685800" y="5120640"/>
            <a:ext cx="91440" cy="91440"/>
          </a:xfrm>
          <a:prstGeom prst="ellipse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68680" y="5029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審查耗時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97480" y="50474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checklist 逐項對照</a:t>
            </a:r>
          </a:p>
        </p:txBody>
      </p:sp>
      <p:sp>
        <p:nvSpPr>
          <p:cNvPr id="30" name="Oval 29"/>
          <p:cNvSpPr/>
          <p:nvPr/>
        </p:nvSpPr>
        <p:spPr>
          <a:xfrm>
            <a:off x="685800" y="5623560"/>
            <a:ext cx="91440" cy="91440"/>
          </a:xfrm>
          <a:prstGeom prst="ellipse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68680" y="5532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知識難傳承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697480" y="555040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資深離職衝擊大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1554480"/>
            <a:ext cx="5669280" cy="4663440"/>
          </a:xfrm>
          <a:prstGeom prst="roundRect">
            <a:avLst>
              <a:gd name="adj" fmla="val 3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17920" y="1554480"/>
            <a:ext cx="73152" cy="4663440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40" y="1664208"/>
            <a:ext cx="53035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4DD0C1"/>
                </a:solidFill>
                <a:latin typeface="Arial"/>
                <a:ea typeface="Microsoft JhengHei"/>
              </a:rPr>
              <a:t>AFTER — AI + Human Review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40" y="2103120"/>
            <a:ext cx="530352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TC Generator pipeline with deterministic export</a:t>
            </a:r>
          </a:p>
        </p:txBody>
      </p:sp>
      <p:sp>
        <p:nvSpPr>
          <p:cNvPr id="37" name="Oval 36"/>
          <p:cNvSpPr/>
          <p:nvPr/>
        </p:nvSpPr>
        <p:spPr>
          <a:xfrm>
            <a:off x="6537960" y="2606040"/>
            <a:ext cx="91440" cy="91440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720840" y="25146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批次生成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9640" y="25328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AI 數分鐘產出 100+ TC 草稿</a:t>
            </a:r>
          </a:p>
        </p:txBody>
      </p:sp>
      <p:sp>
        <p:nvSpPr>
          <p:cNvPr id="40" name="Oval 39"/>
          <p:cNvSpPr/>
          <p:nvPr/>
        </p:nvSpPr>
        <p:spPr>
          <a:xfrm>
            <a:off x="6537960" y="3108960"/>
            <a:ext cx="91440" cy="91440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720840" y="30175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規範一致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303580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規則寫入 prompt，產出統一</a:t>
            </a:r>
          </a:p>
        </p:txBody>
      </p:sp>
      <p:sp>
        <p:nvSpPr>
          <p:cNvPr id="43" name="Oval 42"/>
          <p:cNvSpPr/>
          <p:nvPr/>
        </p:nvSpPr>
        <p:spPr>
          <a:xfrm>
            <a:off x="6537960" y="3611880"/>
            <a:ext cx="91440" cy="91440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720840" y="35204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自動合規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353872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SWE.6 Instruction 自動載入</a:t>
            </a:r>
          </a:p>
        </p:txBody>
      </p:sp>
      <p:sp>
        <p:nvSpPr>
          <p:cNvPr id="46" name="Oval 45"/>
          <p:cNvSpPr/>
          <p:nvPr/>
        </p:nvSpPr>
        <p:spPr>
          <a:xfrm>
            <a:off x="6537960" y="4114800"/>
            <a:ext cx="91440" cy="91440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20840" y="402336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自動 Traceability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49640" y="404164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Requirement ↔ TC 自動對應</a:t>
            </a:r>
          </a:p>
        </p:txBody>
      </p:sp>
      <p:sp>
        <p:nvSpPr>
          <p:cNvPr id="49" name="Oval 48"/>
          <p:cNvSpPr/>
          <p:nvPr/>
        </p:nvSpPr>
        <p:spPr>
          <a:xfrm>
            <a:off x="6537960" y="4617720"/>
            <a:ext cx="91440" cy="91440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720840" y="45262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Incremental 模式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454456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只重跑受影響列</a:t>
            </a:r>
          </a:p>
        </p:txBody>
      </p:sp>
      <p:sp>
        <p:nvSpPr>
          <p:cNvPr id="52" name="Oval 51"/>
          <p:cNvSpPr/>
          <p:nvPr/>
        </p:nvSpPr>
        <p:spPr>
          <a:xfrm>
            <a:off x="6537960" y="5120640"/>
            <a:ext cx="91440" cy="91440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720840" y="502920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Review Mode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504748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findings.json + 報告</a:t>
            </a:r>
          </a:p>
        </p:txBody>
      </p:sp>
      <p:sp>
        <p:nvSpPr>
          <p:cNvPr id="55" name="Oval 54"/>
          <p:cNvSpPr/>
          <p:nvPr/>
        </p:nvSpPr>
        <p:spPr>
          <a:xfrm>
            <a:off x="6537960" y="5623560"/>
            <a:ext cx="91440" cy="91440"/>
          </a:xfrm>
          <a:prstGeom prst="ellipse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720840" y="553212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文件化規則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49640" y="5550408"/>
            <a:ext cx="3246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0">
                <a:solidFill>
                  <a:srgbClr val="C4D0DE"/>
                </a:solidFill>
                <a:latin typeface="Arial"/>
                <a:ea typeface="Microsoft JhengHei"/>
              </a:rPr>
              <a:t>新人讀 docs 即可上手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10727" y="64922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DD0C1"/>
                </a:solidFill>
                <a:latin typeface="Arial"/>
                <a:ea typeface="Microsoft JhengHei"/>
              </a:rPr>
              <a:t>Author : PeiYu Hsu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501384"/>
            <a:ext cx="118872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1031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Microsoft JhengHei"/>
              </a:rPr>
              <a:t>AI's Role in the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7782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4D0DE"/>
                </a:solidFill>
                <a:latin typeface="Arial"/>
                <a:ea typeface="Microsoft JhengHei"/>
              </a:rPr>
              <a:t>Generative steps powered by LLM; validation &amp; export stay deterministic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80160"/>
            <a:ext cx="182880" cy="2743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3503" y="1280160"/>
            <a:ext cx="11064240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58600" y="1280160"/>
            <a:ext cx="64008" cy="2743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170432"/>
            <a:ext cx="11338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DD0C1"/>
                </a:solidFill>
                <a:latin typeface="Arial"/>
                <a:ea typeface="Microsoft JhengHei"/>
              </a:rPr>
              <a:t>RESPONSIBILITY MATRIX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554480"/>
            <a:ext cx="11475720" cy="457200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627632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A2E52"/>
                </a:solidFill>
                <a:latin typeface="Arial"/>
                <a:ea typeface="Microsoft JhengHei"/>
              </a:rPr>
              <a:t>STAGE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162763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A2E52"/>
                </a:solidFill>
                <a:latin typeface="Arial"/>
                <a:ea typeface="Microsoft JhengHei"/>
              </a:rPr>
              <a:t>AI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1627632"/>
            <a:ext cx="42062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A2E52"/>
                </a:solidFill>
                <a:latin typeface="Arial"/>
                <a:ea typeface="Microsoft JhengHei"/>
              </a:rPr>
              <a:t>REPLACES (manual task)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057400"/>
            <a:ext cx="11475720" cy="50292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1762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規格解析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1762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文件解析器（PDF/DOCX/XLSX → 結構化）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17627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人工讀文件、整理重點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560320"/>
            <a:ext cx="11475720" cy="502920"/>
          </a:xfrm>
          <a:prstGeom prst="rect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2679191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TC 生成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679191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LLM 批次產出步驟、預期結果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2679191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手動逐筆撰寫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3063240"/>
            <a:ext cx="11475720" cy="50292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48640" y="318211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設計方法判定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31821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依規則檔自動選擇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318211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個人經驗判斷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66160"/>
            <a:ext cx="11475720" cy="502920"/>
          </a:xfrm>
          <a:prstGeom prst="rect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48640" y="368503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優先級分類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68503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P0~P3 自動分類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89520" y="368503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主觀評估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069080"/>
            <a:ext cx="11475720" cy="50292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48640" y="418795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Test Set 歸類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18795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gpt-5-mini 低成本分類器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18795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人工歸類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572000"/>
            <a:ext cx="11475720" cy="502920"/>
          </a:xfrm>
          <a:prstGeom prst="rect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469087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Traceability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46908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Requirement ↔ TC 自動連結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469087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人工建表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074920"/>
            <a:ext cx="11475720" cy="502920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519379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Review / 稽核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40480" y="51937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對照 SWE.6 條款掃描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519379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checklist 逐項對照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5577840"/>
            <a:ext cx="11475720" cy="502920"/>
          </a:xfrm>
          <a:prstGeom prst="rect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5696712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Arial"/>
                <a:ea typeface="Microsoft JhengHei"/>
              </a:rPr>
              <a:t>成本估算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840480" y="569671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Dry-run 預估 token / USD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5696712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原本沒有的能力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6263640"/>
            <a:ext cx="11475720" cy="274320"/>
          </a:xfrm>
          <a:prstGeom prst="rect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6291072"/>
            <a:ext cx="1124712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0A2E52"/>
                </a:solidFill>
                <a:latin typeface="Arial"/>
                <a:ea typeface="Microsoft JhengHei"/>
              </a:rPr>
              <a:t>↑ Human Review remains the final gate — engineers approve, regenerate, or override AI output before export.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10727" y="64922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DD0C1"/>
                </a:solidFill>
                <a:latin typeface="Arial"/>
                <a:ea typeface="Microsoft JhengHei"/>
              </a:rPr>
              <a:t>Author : PeiYu Hsu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0" y="6501384"/>
            <a:ext cx="118872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1031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Microsoft JhengHei"/>
              </a:rPr>
              <a:t>Effectiveness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7782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4D0DE"/>
                </a:solidFill>
                <a:latin typeface="Arial"/>
                <a:ea typeface="Microsoft JhengHei"/>
              </a:rPr>
              <a:t>Per single SWQT module (~100–150 TCs) — time and output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80160"/>
            <a:ext cx="182880" cy="2743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3503" y="1280160"/>
            <a:ext cx="11064240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58600" y="1280160"/>
            <a:ext cx="64008" cy="2743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170432"/>
            <a:ext cx="11338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DD0C1"/>
                </a:solidFill>
                <a:latin typeface="Arial"/>
                <a:ea typeface="Microsoft JhengHei"/>
              </a:rPr>
              <a:t>TIME &amp; VOLUME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2743200" cy="73152"/>
          </a:xfrm>
          <a:prstGeom prst="rect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169164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C4D0DE"/>
                </a:solidFill>
                <a:latin typeface="Arial"/>
                <a:ea typeface="Microsoft JhengHei"/>
              </a:rPr>
              <a:t>完成週期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01168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5C34D"/>
                </a:solidFill>
                <a:latin typeface="Arial"/>
                <a:ea typeface="Microsoft JhengHei"/>
              </a:rPr>
              <a:t>9~15 → 0.5~1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26334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天 / days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73552" y="155448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273552" y="1554480"/>
            <a:ext cx="2743200" cy="7315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73552" y="169164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C4D0DE"/>
                </a:solidFill>
                <a:latin typeface="Arial"/>
                <a:ea typeface="Microsoft JhengHei"/>
              </a:rPr>
              <a:t>工時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73552" y="201168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4DD0C1"/>
                </a:solidFill>
                <a:latin typeface="Arial"/>
                <a:ea typeface="Microsoft JhengHei"/>
              </a:rPr>
              <a:t>76~120 → 4~8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73552" y="26334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小時 / hours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81344" y="155448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81344" y="1554480"/>
            <a:ext cx="2743200" cy="73152"/>
          </a:xfrm>
          <a:prstGeom prst="rect">
            <a:avLst/>
          </a:prstGeom>
          <a:solidFill>
            <a:srgbClr val="F5C3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181344" y="169164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C4D0DE"/>
                </a:solidFill>
                <a:latin typeface="Arial"/>
                <a:ea typeface="Microsoft JhengHei"/>
              </a:rPr>
              <a:t>單日產出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01168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F5C34D"/>
                </a:solidFill>
                <a:latin typeface="Arial"/>
                <a:ea typeface="Microsoft JhengHei"/>
              </a:rPr>
              <a:t>15~25 → 150~300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81344" y="26334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筆 / day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89136" y="1554480"/>
            <a:ext cx="2743200" cy="1417320"/>
          </a:xfrm>
          <a:prstGeom prst="roundRect">
            <a:avLst>
              <a:gd name="adj" fmla="val 5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089136" y="1554480"/>
            <a:ext cx="2743200" cy="7315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89136" y="169164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1">
                <a:solidFill>
                  <a:srgbClr val="C4D0DE"/>
                </a:solidFill>
                <a:latin typeface="Arial"/>
                <a:ea typeface="Microsoft JhengHei"/>
              </a:rPr>
              <a:t>總工時節省比例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89136" y="2011680"/>
            <a:ext cx="2743200" cy="594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200" b="1">
                <a:solidFill>
                  <a:srgbClr val="4DD0C1"/>
                </a:solidFill>
                <a:latin typeface="Arial"/>
                <a:ea typeface="Microsoft JhengHei"/>
              </a:rPr>
              <a:t>90~95%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89136" y="26334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節省 / saved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84048" y="3291840"/>
            <a:ext cx="182880" cy="2743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03503" y="3291840"/>
            <a:ext cx="11064240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1658600" y="3291840"/>
            <a:ext cx="64008" cy="2743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84048" y="3182112"/>
            <a:ext cx="11338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DD0C1"/>
                </a:solidFill>
                <a:latin typeface="Arial"/>
                <a:ea typeface="Microsoft JhengHei"/>
              </a:rPr>
              <a:t>BEFORE / AFTER BREAKDOWN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3566160"/>
            <a:ext cx="11475720" cy="411480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48640" y="362102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A2E52"/>
                </a:solidFill>
                <a:latin typeface="Arial"/>
                <a:ea typeface="Microsoft JhengHei"/>
              </a:rPr>
              <a:t>工作項目 / Task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0" y="3621024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A2E52"/>
                </a:solidFill>
                <a:latin typeface="Arial"/>
                <a:ea typeface="Microsoft JhengHei"/>
              </a:rPr>
              <a:t>改善前 / Before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0" y="3621024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A2E52"/>
                </a:solidFill>
                <a:latin typeface="Arial"/>
                <a:ea typeface="Microsoft JhengHei"/>
              </a:rPr>
              <a:t>改善後 / After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977639"/>
            <a:ext cx="11475720" cy="384048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48640" y="4050791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規格閱讀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89120" y="4050791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1~2 天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050791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5~10 分鐘（上傳）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4361688"/>
            <a:ext cx="11475720" cy="384048"/>
          </a:xfrm>
          <a:prstGeom prst="rect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48640" y="4434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TC 撰寫（100~150 筆）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389120" y="4434840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4~6 天 / 每筆 15~30 min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434840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10~30 分鐘批次生成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4745736"/>
            <a:ext cx="11475720" cy="384048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548640" y="48188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Traceability 建立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20" y="4818888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0.5~1 天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4818888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自動（&lt; 1 分鐘）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5129783"/>
            <a:ext cx="11475720" cy="384048"/>
          </a:xfrm>
          <a:prstGeom prst="rect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48640" y="52029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ASPICE 自審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389120" y="5202936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1~2 天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5202936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5~15 分鐘 Review Mode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5513831"/>
            <a:ext cx="11475720" cy="384048"/>
          </a:xfrm>
          <a:prstGeom prst="rect">
            <a:avLst/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548640" y="558698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同儕審查 + 修改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89120" y="5586983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2~3 天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46720" y="5586983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1~2 小時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5897879"/>
            <a:ext cx="11475720" cy="384048"/>
          </a:xfrm>
          <a:prstGeom prst="rect">
            <a:avLst/>
          </a:prstGeom>
          <a:solidFill>
            <a:srgbClr val="0A2E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548640" y="5971031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規格變更同步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389120" y="5971031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C4D0DE"/>
                </a:solidFill>
                <a:latin typeface="Arial"/>
                <a:ea typeface="Microsoft JhengHei"/>
              </a:rPr>
              <a:t>1~2 天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046720" y="5971031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4DD0C1"/>
                </a:solidFill>
                <a:latin typeface="Arial"/>
                <a:ea typeface="Microsoft JhengHei"/>
              </a:rPr>
              <a:t>&lt; 1 小時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110727" y="64922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DD0C1"/>
                </a:solidFill>
                <a:latin typeface="Arial"/>
                <a:ea typeface="Microsoft JhengHei"/>
              </a:rPr>
              <a:t>Author : PeiYu Hsu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972800" y="6501384"/>
            <a:ext cx="118872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2E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10312"/>
            <a:ext cx="1097280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Arial"/>
                <a:ea typeface="Microsoft JhengHei"/>
              </a:rPr>
              <a:t>Prerequisites for Replication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877824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C4D0DE"/>
                </a:solidFill>
                <a:latin typeface="Arial"/>
                <a:ea typeface="Microsoft JhengHei"/>
              </a:rPr>
              <a:t>What you need to deploy / reuse this solution in another team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280160"/>
            <a:ext cx="182880" cy="2743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3503" y="1280160"/>
            <a:ext cx="11064240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1658600" y="1280160"/>
            <a:ext cx="64008" cy="27432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84048" y="1170432"/>
            <a:ext cx="1133856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4DD0C1"/>
                </a:solidFill>
                <a:latin typeface="Arial"/>
                <a:ea typeface="Microsoft JhengHei"/>
              </a:rPr>
              <a:t>REQUIREMENTS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55448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65760" y="1554480"/>
            <a:ext cx="73152" cy="2194560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25312" y="1645920"/>
            <a:ext cx="109728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164592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5C34D"/>
                </a:solidFill>
                <a:latin typeface="Arial"/>
                <a:ea typeface="Microsoft JhengHe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234440" y="1719072"/>
            <a:ext cx="18288" cy="292608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25880" y="17373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Microsoft JhengHei"/>
              </a:rPr>
              <a:t>Environment / 環境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" y="2148840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Python ≥ 3.10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Node.js ≥ 20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Git; Docker (optional)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macOS / Linux / WSL2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73152" cy="2194560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11777472" y="1645920"/>
            <a:ext cx="109728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92240" y="1645920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5C34D"/>
                </a:solidFill>
                <a:latin typeface="Arial"/>
                <a:ea typeface="Microsoft JhengHe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086600" y="1719072"/>
            <a:ext cx="18288" cy="292608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178040" y="173736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Microsoft JhengHei"/>
              </a:rPr>
              <a:t>AI Service / AI 服務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28816" y="2148840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OpenAI API Key（付費帳號）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gpt-5（生成）/ gpt-5-mini（分類）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網路可連 api.openai.com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建議設 --budget 上限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3977639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65760" y="3977639"/>
            <a:ext cx="73152" cy="2194560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925312" y="4069079"/>
            <a:ext cx="109728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069079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5C34D"/>
                </a:solidFill>
                <a:latin typeface="Arial"/>
                <a:ea typeface="Microsoft JhengHei"/>
              </a:rPr>
              <a:t>03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34440" y="4142231"/>
            <a:ext cx="18288" cy="292608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325880" y="41605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Microsoft JhengHei"/>
              </a:rPr>
              <a:t>Input Files / 輸入文件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" y="4572000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TC Spec .xlsx（檔名 *_SWQT_*_YYYYMMDD）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SYS1 .xlsx（選用）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補充 spec（PDF / DOCX / XLSX）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framework.json（選用）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3977639"/>
            <a:ext cx="5669280" cy="2194560"/>
          </a:xfrm>
          <a:prstGeom prst="roundRect">
            <a:avLst>
              <a:gd name="adj" fmla="val 5000"/>
            </a:avLst>
          </a:prstGeom>
          <a:solidFill>
            <a:srgbClr val="14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217920" y="3977639"/>
            <a:ext cx="73152" cy="2194560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777472" y="4069079"/>
            <a:ext cx="109728" cy="13716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92240" y="4069079"/>
            <a:ext cx="73152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F5C34D"/>
                </a:solidFill>
                <a:latin typeface="Arial"/>
                <a:ea typeface="Microsoft JhengHei"/>
              </a:rPr>
              <a:t>04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86600" y="4142231"/>
            <a:ext cx="18288" cy="292608"/>
          </a:xfrm>
          <a:prstGeom prst="rect">
            <a:avLst/>
          </a:prstGeom>
          <a:solidFill>
            <a:srgbClr val="4DD0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178040" y="4160520"/>
            <a:ext cx="4663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rial"/>
                <a:ea typeface="Microsoft JhengHei"/>
              </a:rPr>
              <a:t>Domain Docs / 領域規範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28816" y="4572000"/>
            <a:ext cx="521208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ASPICE_SWE6_AI_Instruction.md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Test Case Design Method 判斷規則.md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TEST_SET_POLICY.md</a:t>
            </a:r>
          </a:p>
          <a:p>
            <a:pPr algn="l"/>
            <a:r>
              <a:rPr sz="1100" b="0">
                <a:solidFill>
                  <a:srgbClr val="FFFFFF"/>
                </a:solidFill>
                <a:latin typeface="Arial"/>
                <a:ea typeface="Microsoft JhengHei"/>
              </a:rPr>
              <a:t>test_case_priority.md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0727" y="649224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4DD0C1"/>
                </a:solidFill>
                <a:latin typeface="Arial"/>
                <a:ea typeface="Microsoft JhengHei"/>
              </a:rPr>
              <a:t>Author : PeiYu Hsu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501384"/>
            <a:ext cx="1188720" cy="1737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00" b="1">
                <a:solidFill>
                  <a:srgbClr val="FFFFFF"/>
                </a:solidFill>
                <a:latin typeface="Arial"/>
                <a:ea typeface="Microsoft JhengHei"/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658</Words>
  <Application>Microsoft Macintosh PowerPoint</Application>
  <PresentationFormat>寬螢幕</PresentationFormat>
  <Paragraphs>184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PeiPYHsu(許珮瑜)</cp:lastModifiedBy>
  <cp:revision>2</cp:revision>
  <dcterms:created xsi:type="dcterms:W3CDTF">2013-01-27T09:14:16Z</dcterms:created>
  <dcterms:modified xsi:type="dcterms:W3CDTF">2026-06-01T13:46:12Z</dcterms:modified>
  <cp:category/>
</cp:coreProperties>
</file>